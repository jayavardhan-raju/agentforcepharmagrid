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5" r:id="rId8"/>
    <p:sldId id="267" r:id="rId9"/>
    <p:sldId id="268" r:id="rId10"/>
    <p:sldId id="269" r:id="rId11"/>
    <p:sldId id="270" r:id="rId12"/>
    <p:sldId id="271" r:id="rId13"/>
    <p:sldId id="272" r:id="rId14"/>
    <p:sldId id="273" r:id="rId15"/>
    <p:sldId id="266" r:id="rId16"/>
  </p:sldIdLst>
  <p:sldSz cx="16256000" cy="9144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22" autoAdjust="0"/>
  </p:normalViewPr>
  <p:slideViewPr>
    <p:cSldViewPr>
      <p:cViewPr>
        <p:scale>
          <a:sx n="68" d="100"/>
          <a:sy n="68" d="100"/>
        </p:scale>
        <p:origin x="355"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F4D061-9655-491B-9FC1-7A5E5354ADF6}" type="datetimeFigureOut">
              <a:rPr lang="en-US" smtClean="0"/>
              <a:t>6/18/2026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A67238-3E69-4C2B-9C18-F8DEE8A60D45}" type="slidenum">
              <a:rPr lang="en-US" smtClean="0"/>
              <a:t>‹#›</a:t>
            </a:fld>
            <a:endParaRPr lang="en-US"/>
          </a:p>
        </p:txBody>
      </p:sp>
    </p:spTree>
    <p:extLst>
      <p:ext uri="{BB962C8B-B14F-4D97-AF65-F5344CB8AC3E}">
        <p14:creationId xmlns:p14="http://schemas.microsoft.com/office/powerpoint/2010/main" val="40398967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94858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26176824-7946-6969-3841-DD5C101DF4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162"/>
            <a:ext cx="16256000" cy="9193313"/>
            <a:chOff x="0" y="-7622"/>
            <a:chExt cx="12192000" cy="6894986"/>
          </a:xfrm>
        </p:grpSpPr>
        <p:sp>
          <p:nvSpPr>
            <p:cNvPr id="8" name="Rectangle 7">
              <a:extLst>
                <a:ext uri="{FF2B5EF4-FFF2-40B4-BE49-F238E27FC236}">
                  <a16:creationId xmlns:a16="http://schemas.microsoft.com/office/drawing/2014/main" id="{C5675077-BFF1-36B0-EA6D-B4599DBA72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7621"/>
              <a:ext cx="12192000" cy="6887364"/>
            </a:xfrm>
            <a:prstGeom prst="rect">
              <a:avLst/>
            </a:prstGeom>
            <a:gradFill>
              <a:gsLst>
                <a:gs pos="8000">
                  <a:schemeClr val="accent5"/>
                </a:gs>
                <a:gs pos="100000">
                  <a:schemeClr val="accent2"/>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F637796C-75D6-BAA5-036C-0E9E7F85B7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9" y="0"/>
              <a:ext cx="8216919" cy="6887364"/>
            </a:xfrm>
            <a:prstGeom prst="rect">
              <a:avLst/>
            </a:prstGeom>
            <a:gradFill flip="none" rotWithShape="1">
              <a:gsLst>
                <a:gs pos="0">
                  <a:schemeClr val="accent5">
                    <a:lumMod val="75000"/>
                    <a:alpha val="79000"/>
                  </a:schemeClr>
                </a:gs>
                <a:gs pos="40000">
                  <a:schemeClr val="accent5">
                    <a:lumMod val="60000"/>
                    <a:lumOff val="40000"/>
                    <a:alpha val="0"/>
                  </a:schemeClr>
                </a:gs>
              </a:gsLst>
              <a:lin ang="19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BFBD50A-DBB5-04FA-45B9-183C84E4C9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39978" y="-7622"/>
              <a:ext cx="8451623" cy="6887367"/>
            </a:xfrm>
            <a:prstGeom prst="rect">
              <a:avLst/>
            </a:prstGeom>
            <a:gradFill>
              <a:gsLst>
                <a:gs pos="0">
                  <a:schemeClr val="accent5">
                    <a:lumMod val="75000"/>
                    <a:alpha val="67000"/>
                  </a:schemeClr>
                </a:gs>
                <a:gs pos="60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2659E1E-0E9F-DC4F-40A9-CFA17EDF78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8217318" y="7059"/>
              <a:ext cx="3974283" cy="6872683"/>
            </a:xfrm>
            <a:prstGeom prst="rect">
              <a:avLst/>
            </a:prstGeom>
            <a:gradFill flip="none" rotWithShape="1">
              <a:gsLst>
                <a:gs pos="0">
                  <a:schemeClr val="accent2">
                    <a:alpha val="64000"/>
                  </a:schemeClr>
                </a:gs>
                <a:gs pos="41000">
                  <a:schemeClr val="accent2">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pic>
        <p:nvPicPr>
          <p:cNvPr id="2" name="Picture 2"/>
          <p:cNvPicPr>
            <a:picLocks noChangeAspect="1"/>
          </p:cNvPicPr>
          <p:nvPr/>
        </p:nvPicPr>
        <p:blipFill>
          <a:blip r:embed="rId2"/>
          <a:srcRect r="1" b="556"/>
          <a:stretch>
            <a:fillRect/>
          </a:stretch>
        </p:blipFill>
        <p:spPr>
          <a:xfrm>
            <a:off x="163621" y="154317"/>
            <a:ext cx="15918204" cy="882519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844FC-6FFA-43D3-6732-AA6AA7A496F2}"/>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6C194999-8F93-07F6-4529-AB5D85182D48}"/>
              </a:ext>
            </a:extLst>
          </p:cNvPr>
          <p:cNvPicPr>
            <a:picLocks noChangeAspect="1"/>
          </p:cNvPicPr>
          <p:nvPr/>
        </p:nvPicPr>
        <p:blipFill>
          <a:blip r:embed="rId2"/>
          <a:stretch>
            <a:fillRect/>
          </a:stretch>
        </p:blipFill>
        <p:spPr>
          <a:xfrm>
            <a:off x="0" y="38100"/>
            <a:ext cx="16256000" cy="9067800"/>
          </a:xfrm>
          <a:prstGeom prst="rect">
            <a:avLst/>
          </a:prstGeom>
        </p:spPr>
      </p:pic>
      <p:pic>
        <p:nvPicPr>
          <p:cNvPr id="4" name="Picture 3">
            <a:extLst>
              <a:ext uri="{FF2B5EF4-FFF2-40B4-BE49-F238E27FC236}">
                <a16:creationId xmlns:a16="http://schemas.microsoft.com/office/drawing/2014/main" id="{EDE55595-0D4B-0903-FFAB-1421FCE8F8EE}"/>
              </a:ext>
            </a:extLst>
          </p:cNvPr>
          <p:cNvPicPr>
            <a:picLocks noChangeAspect="1"/>
          </p:cNvPicPr>
          <p:nvPr/>
        </p:nvPicPr>
        <p:blipFill>
          <a:blip r:embed="rId3"/>
          <a:stretch>
            <a:fillRect/>
          </a:stretch>
        </p:blipFill>
        <p:spPr>
          <a:xfrm>
            <a:off x="6756401" y="2864590"/>
            <a:ext cx="2667000" cy="2698010"/>
          </a:xfrm>
          <a:prstGeom prst="rect">
            <a:avLst/>
          </a:prstGeom>
        </p:spPr>
      </p:pic>
    </p:spTree>
    <p:extLst>
      <p:ext uri="{BB962C8B-B14F-4D97-AF65-F5344CB8AC3E}">
        <p14:creationId xmlns:p14="http://schemas.microsoft.com/office/powerpoint/2010/main" val="16540846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0" name="Background Grid"/>
          <p:cNvPicPr>
            <a:picLocks noChangeAspect="1"/>
          </p:cNvPicPr>
          <p:nvPr/>
        </p:nvPicPr>
        <p:blipFill>
          <a:blip r:embed="rId3"/>
          <a:stretch>
            <a:fillRect/>
          </a:stretch>
        </p:blipFill>
        <p:spPr>
          <a:xfrm>
            <a:off x="0" y="0"/>
            <a:ext cx="16256000" cy="9144000"/>
          </a:xfrm>
          <a:prstGeom prst="rect">
            <a:avLst/>
          </a:prstGeom>
        </p:spPr>
      </p:pic>
      <p:sp>
        <p:nvSpPr>
          <p:cNvPr id="2" name="Text 0"/>
          <p:cNvSpPr/>
          <p:nvPr/>
        </p:nvSpPr>
        <p:spPr>
          <a:xfrm>
            <a:off x="1300480" y="650240"/>
            <a:ext cx="13655040" cy="975360"/>
          </a:xfrm>
          <a:prstGeom prst="rect">
            <a:avLst/>
          </a:prstGeom>
          <a:noFill/>
          <a:ln/>
        </p:spPr>
        <p:txBody>
          <a:bodyPr wrap="square" lIns="0" tIns="0" rIns="0" bIns="0" rtlCol="0" anchor="ctr"/>
          <a:lstStyle/>
          <a:p>
            <a:r>
              <a:rPr lang="en-US" sz="4978" b="1" dirty="0">
                <a:solidFill>
                  <a:srgbClr val="FFFFFF"/>
                </a:solidFill>
                <a:latin typeface="Calibri" pitchFamily="34" charset="0"/>
                <a:ea typeface="Calibri" pitchFamily="34" charset="-122"/>
                <a:cs typeface="Calibri" pitchFamily="34" charset="-120"/>
              </a:rPr>
              <a:t>Scenario Summary</a:t>
            </a:r>
            <a:endParaRPr lang="en-US" sz="4978" dirty="0"/>
          </a:p>
        </p:txBody>
      </p:sp>
      <p:graphicFrame>
        <p:nvGraphicFramePr>
          <p:cNvPr id="9" name="Table 0"/>
          <p:cNvGraphicFramePr>
            <a:graphicFrameLocks noGrp="1"/>
          </p:cNvGraphicFramePr>
          <p:nvPr>
            <p:extLst>
              <p:ext uri="{D42A27DB-BD31-4B8C-83A1-F6EECF244321}">
                <p14:modId xmlns:p14="http://schemas.microsoft.com/office/powerpoint/2010/main" val="1256730141"/>
              </p:ext>
            </p:extLst>
          </p:nvPr>
        </p:nvGraphicFramePr>
        <p:xfrm>
          <a:off x="812800" y="1950720"/>
          <a:ext cx="14630400" cy="4779264"/>
        </p:xfrm>
        <a:graphic>
          <a:graphicData uri="http://schemas.openxmlformats.org/drawingml/2006/table">
            <a:tbl>
              <a:tblPr/>
              <a:tblGrid>
                <a:gridCol w="81280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3251200">
                  <a:extLst>
                    <a:ext uri="{9D8B030D-6E8A-4147-A177-3AD203B41FA5}">
                      <a16:colId xmlns:a16="http://schemas.microsoft.com/office/drawing/2014/main" val="20002"/>
                    </a:ext>
                  </a:extLst>
                </a:gridCol>
                <a:gridCol w="3576320">
                  <a:extLst>
                    <a:ext uri="{9D8B030D-6E8A-4147-A177-3AD203B41FA5}">
                      <a16:colId xmlns:a16="http://schemas.microsoft.com/office/drawing/2014/main" val="20003"/>
                    </a:ext>
                  </a:extLst>
                </a:gridCol>
                <a:gridCol w="4064000">
                  <a:extLst>
                    <a:ext uri="{9D8B030D-6E8A-4147-A177-3AD203B41FA5}">
                      <a16:colId xmlns:a16="http://schemas.microsoft.com/office/drawing/2014/main" val="20004"/>
                    </a:ext>
                  </a:extLst>
                </a:gridCol>
              </a:tblGrid>
              <a:tr h="682752">
                <a:tc>
                  <a:txBody>
                    <a:bodyPr/>
                    <a:lstStyle/>
                    <a:p>
                      <a:pPr marL="0" indent="0">
                        <a:buNone/>
                      </a:pPr>
                      <a:r>
                        <a:rPr lang="en-US" sz="2000" b="1" dirty="0">
                          <a:solidFill>
                            <a:srgbClr val="FFFFFF"/>
                          </a:solidFill>
                          <a:latin typeface="Calibri" pitchFamily="34" charset="0"/>
                          <a:ea typeface="Calibri" pitchFamily="34" charset="-122"/>
                          <a:cs typeface="Calibri" pitchFamily="34" charset="-120"/>
                        </a:rPr>
                        <a:t>#</a:t>
                      </a:r>
                      <a:endParaRPr lang="en-US" sz="2000" dirty="0">
                        <a:latin typeface="Calibri" charset="0"/>
                        <a:ea typeface="Calibri" charset="0"/>
                        <a:cs typeface="Calibri" charset="0"/>
                      </a:endParaRPr>
                    </a:p>
                  </a:txBody>
                  <a:tcPr marL="135467" marR="135467" marT="90311" marB="90311">
                    <a:lnL w="6350" cap="flat" cmpd="sng" algn="ctr">
                      <a:solidFill>
                        <a:srgbClr val="028090"/>
                      </a:solidFill>
                      <a:prstDash val="solid"/>
                      <a:round/>
                      <a:headEnd type="none" w="med" len="med"/>
                      <a:tailEnd type="none" w="med" len="med"/>
                    </a:lnL>
                    <a:lnR w="6350" cap="flat" cmpd="sng" algn="ctr">
                      <a:solidFill>
                        <a:srgbClr val="028090"/>
                      </a:solidFill>
                      <a:prstDash val="solid"/>
                      <a:round/>
                      <a:headEnd type="none" w="med" len="med"/>
                      <a:tailEnd type="none" w="med" len="med"/>
                    </a:lnR>
                    <a:lnT w="6350" cap="flat" cmpd="sng" algn="ctr">
                      <a:solidFill>
                        <a:srgbClr val="028090"/>
                      </a:solidFill>
                      <a:prstDash val="solid"/>
                      <a:round/>
                      <a:headEnd type="none" w="med" len="med"/>
                      <a:tailEnd type="none" w="med" len="med"/>
                    </a:lnT>
                    <a:lnB w="6350" cap="flat" cmpd="sng" algn="ctr">
                      <a:solidFill>
                        <a:srgbClr val="028090"/>
                      </a:solidFill>
                      <a:prstDash val="solid"/>
                      <a:round/>
                      <a:headEnd type="none" w="med" len="med"/>
                      <a:tailEnd type="none" w="med" len="med"/>
                    </a:lnB>
                    <a:solidFill>
                      <a:srgbClr val="028090"/>
                    </a:solidFill>
                  </a:tcPr>
                </a:tc>
                <a:tc>
                  <a:txBody>
                    <a:bodyPr/>
                    <a:lstStyle/>
                    <a:p>
                      <a:pPr marL="0" indent="0">
                        <a:buNone/>
                      </a:pPr>
                      <a:r>
                        <a:rPr lang="en-US" sz="2000" b="1" dirty="0">
                          <a:solidFill>
                            <a:srgbClr val="FFFFFF"/>
                          </a:solidFill>
                          <a:latin typeface="Calibri" pitchFamily="34" charset="0"/>
                          <a:ea typeface="Calibri" pitchFamily="34" charset="-122"/>
                          <a:cs typeface="Calibri" pitchFamily="34" charset="-120"/>
                        </a:rPr>
                        <a:t>Medication</a:t>
                      </a:r>
                      <a:endParaRPr lang="en-US" sz="2000" dirty="0">
                        <a:latin typeface="Calibri" charset="0"/>
                        <a:ea typeface="Calibri" charset="0"/>
                        <a:cs typeface="Calibri" charset="0"/>
                      </a:endParaRPr>
                    </a:p>
                  </a:txBody>
                  <a:tcPr marL="135467" marR="135467" marT="90311" marB="90311">
                    <a:lnL w="6350" cap="flat" cmpd="sng" algn="ctr">
                      <a:solidFill>
                        <a:srgbClr val="028090"/>
                      </a:solidFill>
                      <a:prstDash val="solid"/>
                      <a:round/>
                      <a:headEnd type="none" w="med" len="med"/>
                      <a:tailEnd type="none" w="med" len="med"/>
                    </a:lnL>
                    <a:lnR w="6350" cap="flat" cmpd="sng" algn="ctr">
                      <a:solidFill>
                        <a:srgbClr val="028090"/>
                      </a:solidFill>
                      <a:prstDash val="solid"/>
                      <a:round/>
                      <a:headEnd type="none" w="med" len="med"/>
                      <a:tailEnd type="none" w="med" len="med"/>
                    </a:lnR>
                    <a:lnT w="6350" cap="flat" cmpd="sng" algn="ctr">
                      <a:solidFill>
                        <a:srgbClr val="028090"/>
                      </a:solidFill>
                      <a:prstDash val="solid"/>
                      <a:round/>
                      <a:headEnd type="none" w="med" len="med"/>
                      <a:tailEnd type="none" w="med" len="med"/>
                    </a:lnT>
                    <a:lnB w="6350" cap="flat" cmpd="sng" algn="ctr">
                      <a:solidFill>
                        <a:srgbClr val="028090"/>
                      </a:solidFill>
                      <a:prstDash val="solid"/>
                      <a:round/>
                      <a:headEnd type="none" w="med" len="med"/>
                      <a:tailEnd type="none" w="med" len="med"/>
                    </a:lnB>
                    <a:solidFill>
                      <a:srgbClr val="028090"/>
                    </a:solidFill>
                  </a:tcPr>
                </a:tc>
                <a:tc>
                  <a:txBody>
                    <a:bodyPr/>
                    <a:lstStyle/>
                    <a:p>
                      <a:pPr marL="0" indent="0">
                        <a:buNone/>
                      </a:pPr>
                      <a:r>
                        <a:rPr lang="en-US" sz="2000" b="1" dirty="0">
                          <a:solidFill>
                            <a:srgbClr val="FFFFFF"/>
                          </a:solidFill>
                          <a:latin typeface="Calibri" pitchFamily="34" charset="0"/>
                          <a:ea typeface="Calibri" pitchFamily="34" charset="-122"/>
                          <a:cs typeface="Calibri" pitchFamily="34" charset="-120"/>
                        </a:rPr>
                        <a:t>Target Store</a:t>
                      </a:r>
                      <a:endParaRPr lang="en-US" sz="2000" dirty="0">
                        <a:latin typeface="Calibri" charset="0"/>
                        <a:ea typeface="Calibri" charset="0"/>
                        <a:cs typeface="Calibri" charset="0"/>
                      </a:endParaRPr>
                    </a:p>
                  </a:txBody>
                  <a:tcPr marL="135467" marR="135467" marT="90311" marB="90311">
                    <a:lnL w="6350" cap="flat" cmpd="sng" algn="ctr">
                      <a:solidFill>
                        <a:srgbClr val="028090"/>
                      </a:solidFill>
                      <a:prstDash val="solid"/>
                      <a:round/>
                      <a:headEnd type="none" w="med" len="med"/>
                      <a:tailEnd type="none" w="med" len="med"/>
                    </a:lnL>
                    <a:lnR w="6350" cap="flat" cmpd="sng" algn="ctr">
                      <a:solidFill>
                        <a:srgbClr val="028090"/>
                      </a:solidFill>
                      <a:prstDash val="solid"/>
                      <a:round/>
                      <a:headEnd type="none" w="med" len="med"/>
                      <a:tailEnd type="none" w="med" len="med"/>
                    </a:lnR>
                    <a:lnT w="6350" cap="flat" cmpd="sng" algn="ctr">
                      <a:solidFill>
                        <a:srgbClr val="028090"/>
                      </a:solidFill>
                      <a:prstDash val="solid"/>
                      <a:round/>
                      <a:headEnd type="none" w="med" len="med"/>
                      <a:tailEnd type="none" w="med" len="med"/>
                    </a:lnT>
                    <a:lnB w="6350" cap="flat" cmpd="sng" algn="ctr">
                      <a:solidFill>
                        <a:srgbClr val="028090"/>
                      </a:solidFill>
                      <a:prstDash val="solid"/>
                      <a:round/>
                      <a:headEnd type="none" w="med" len="med"/>
                      <a:tailEnd type="none" w="med" len="med"/>
                    </a:lnB>
                    <a:solidFill>
                      <a:srgbClr val="028090"/>
                    </a:solidFill>
                  </a:tcPr>
                </a:tc>
                <a:tc>
                  <a:txBody>
                    <a:bodyPr/>
                    <a:lstStyle/>
                    <a:p>
                      <a:pPr marL="0" indent="0">
                        <a:buNone/>
                      </a:pPr>
                      <a:r>
                        <a:rPr lang="en-US" sz="2000" b="1" dirty="0">
                          <a:solidFill>
                            <a:srgbClr val="FFFFFF"/>
                          </a:solidFill>
                          <a:latin typeface="Calibri" pitchFamily="34" charset="0"/>
                          <a:ea typeface="Calibri" pitchFamily="34" charset="-122"/>
                          <a:cs typeface="Calibri" pitchFamily="34" charset="-120"/>
                        </a:rPr>
                        <a:t>Outcome</a:t>
                      </a:r>
                      <a:endParaRPr lang="en-US" sz="2000" dirty="0">
                        <a:latin typeface="Calibri" charset="0"/>
                        <a:ea typeface="Calibri" charset="0"/>
                        <a:cs typeface="Calibri" charset="0"/>
                      </a:endParaRPr>
                    </a:p>
                  </a:txBody>
                  <a:tcPr marL="135467" marR="135467" marT="90311" marB="90311">
                    <a:lnL w="6350" cap="flat" cmpd="sng" algn="ctr">
                      <a:solidFill>
                        <a:srgbClr val="028090"/>
                      </a:solidFill>
                      <a:prstDash val="solid"/>
                      <a:round/>
                      <a:headEnd type="none" w="med" len="med"/>
                      <a:tailEnd type="none" w="med" len="med"/>
                    </a:lnL>
                    <a:lnR w="6350" cap="flat" cmpd="sng" algn="ctr">
                      <a:solidFill>
                        <a:srgbClr val="028090"/>
                      </a:solidFill>
                      <a:prstDash val="solid"/>
                      <a:round/>
                      <a:headEnd type="none" w="med" len="med"/>
                      <a:tailEnd type="none" w="med" len="med"/>
                    </a:lnR>
                    <a:lnT w="6350" cap="flat" cmpd="sng" algn="ctr">
                      <a:solidFill>
                        <a:srgbClr val="028090"/>
                      </a:solidFill>
                      <a:prstDash val="solid"/>
                      <a:round/>
                      <a:headEnd type="none" w="med" len="med"/>
                      <a:tailEnd type="none" w="med" len="med"/>
                    </a:lnT>
                    <a:lnB w="6350" cap="flat" cmpd="sng" algn="ctr">
                      <a:solidFill>
                        <a:srgbClr val="028090"/>
                      </a:solidFill>
                      <a:prstDash val="solid"/>
                      <a:round/>
                      <a:headEnd type="none" w="med" len="med"/>
                      <a:tailEnd type="none" w="med" len="med"/>
                    </a:lnB>
                    <a:solidFill>
                      <a:srgbClr val="028090"/>
                    </a:solidFill>
                  </a:tcPr>
                </a:tc>
                <a:tc>
                  <a:txBody>
                    <a:bodyPr/>
                    <a:lstStyle/>
                    <a:p>
                      <a:pPr marL="0" indent="0">
                        <a:buNone/>
                      </a:pPr>
                      <a:r>
                        <a:rPr lang="en-US" sz="2000" b="1" dirty="0">
                          <a:solidFill>
                            <a:srgbClr val="FFFFFF"/>
                          </a:solidFill>
                          <a:latin typeface="Calibri" pitchFamily="34" charset="0"/>
                          <a:ea typeface="Calibri" pitchFamily="34" charset="-122"/>
                          <a:cs typeface="Calibri" pitchFamily="34" charset="-120"/>
                        </a:rPr>
                        <a:t>Source Selected</a:t>
                      </a:r>
                      <a:endParaRPr lang="en-US" sz="2000" dirty="0">
                        <a:latin typeface="Calibri" charset="0"/>
                        <a:ea typeface="Calibri" charset="0"/>
                        <a:cs typeface="Calibri" charset="0"/>
                      </a:endParaRPr>
                    </a:p>
                  </a:txBody>
                  <a:tcPr marL="135467" marR="135467" marT="90311" marB="90311">
                    <a:lnL w="6350" cap="flat" cmpd="sng" algn="ctr">
                      <a:solidFill>
                        <a:srgbClr val="028090"/>
                      </a:solidFill>
                      <a:prstDash val="solid"/>
                      <a:round/>
                      <a:headEnd type="none" w="med" len="med"/>
                      <a:tailEnd type="none" w="med" len="med"/>
                    </a:lnL>
                    <a:lnR w="6350" cap="flat" cmpd="sng" algn="ctr">
                      <a:solidFill>
                        <a:srgbClr val="028090"/>
                      </a:solidFill>
                      <a:prstDash val="solid"/>
                      <a:round/>
                      <a:headEnd type="none" w="med" len="med"/>
                      <a:tailEnd type="none" w="med" len="med"/>
                    </a:lnR>
                    <a:lnT w="6350" cap="flat" cmpd="sng" algn="ctr">
                      <a:solidFill>
                        <a:srgbClr val="028090"/>
                      </a:solidFill>
                      <a:prstDash val="solid"/>
                      <a:round/>
                      <a:headEnd type="none" w="med" len="med"/>
                      <a:tailEnd type="none" w="med" len="med"/>
                    </a:lnT>
                    <a:lnB w="6350" cap="flat" cmpd="sng" algn="ctr">
                      <a:solidFill>
                        <a:srgbClr val="028090"/>
                      </a:solidFill>
                      <a:prstDash val="solid"/>
                      <a:round/>
                      <a:headEnd type="none" w="med" len="med"/>
                      <a:tailEnd type="none" w="med" len="med"/>
                    </a:lnB>
                    <a:solidFill>
                      <a:srgbClr val="028090"/>
                    </a:solidFill>
                  </a:tcPr>
                </a:tc>
                <a:extLst>
                  <a:ext uri="{0D108BD9-81ED-4DB2-BD59-A6C34878D82A}">
                    <a16:rowId xmlns:a16="http://schemas.microsoft.com/office/drawing/2014/main" val="10000"/>
                  </a:ext>
                </a:extLst>
              </a:tr>
              <a:tr h="682752">
                <a:tc>
                  <a:txBody>
                    <a:bodyPr/>
                    <a:lstStyle/>
                    <a:p>
                      <a:pPr marL="0" indent="0" algn="l" defTabSz="914400" rtl="0" eaLnBrk="1" latinLnBrk="0" hangingPunct="1">
                        <a:buNone/>
                      </a:pPr>
                      <a:r>
                        <a:rPr lang="en-US" sz="2000" b="1" kern="1200" dirty="0">
                          <a:solidFill>
                            <a:srgbClr val="102848"/>
                          </a:solidFill>
                          <a:latin typeface="Calibri" pitchFamily="34" charset="0"/>
                          <a:ea typeface="Calibri" pitchFamily="34" charset="-122"/>
                          <a:cs typeface="Calibri" pitchFamily="34" charset="-120"/>
                        </a:rPr>
                        <a:t>1</a:t>
                      </a:r>
                    </a:p>
                  </a:txBody>
                  <a:tcPr marL="135467" marR="135467" marT="90311" marB="90311">
                    <a:lnL w="6350" cap="flat" cmpd="sng" algn="ctr">
                      <a:solidFill>
                        <a:srgbClr val="028090"/>
                      </a:solidFill>
                      <a:prstDash val="solid"/>
                      <a:round/>
                      <a:headEnd type="none" w="med" len="med"/>
                      <a:tailEnd type="none" w="med" len="med"/>
                    </a:lnL>
                    <a:lnR w="6350" cap="flat" cmpd="sng" algn="ctr">
                      <a:solidFill>
                        <a:srgbClr val="028090"/>
                      </a:solidFill>
                      <a:prstDash val="solid"/>
                      <a:round/>
                      <a:headEnd type="none" w="med" len="med"/>
                      <a:tailEnd type="none" w="med" len="med"/>
                    </a:lnR>
                    <a:lnT w="6350" cap="flat" cmpd="sng" algn="ctr">
                      <a:solidFill>
                        <a:srgbClr val="028090"/>
                      </a:solidFill>
                      <a:prstDash val="solid"/>
                      <a:round/>
                      <a:headEnd type="none" w="med" len="med"/>
                      <a:tailEnd type="none" w="med" len="med"/>
                    </a:lnT>
                    <a:lnB w="6350" cap="flat" cmpd="sng" algn="ctr">
                      <a:solidFill>
                        <a:srgbClr val="028090"/>
                      </a:solidFill>
                      <a:prstDash val="solid"/>
                      <a:round/>
                      <a:headEnd type="none" w="med" len="med"/>
                      <a:tailEnd type="none" w="med" len="med"/>
                    </a:lnB>
                  </a:tcPr>
                </a:tc>
                <a:tc>
                  <a:txBody>
                    <a:bodyPr/>
                    <a:lstStyle/>
                    <a:p>
                      <a:pPr marL="0" indent="0" algn="l" defTabSz="914400" rtl="0" eaLnBrk="1" latinLnBrk="0" hangingPunct="1">
                        <a:buNone/>
                      </a:pPr>
                      <a:r>
                        <a:rPr lang="en-US" sz="2000" b="1" kern="1200" dirty="0">
                          <a:solidFill>
                            <a:srgbClr val="102848"/>
                          </a:solidFill>
                          <a:latin typeface="Calibri" pitchFamily="34" charset="0"/>
                          <a:ea typeface="Calibri" pitchFamily="34" charset="-122"/>
                          <a:cs typeface="Calibri" pitchFamily="34" charset="-120"/>
                        </a:rPr>
                        <a:t>Mounjaro 5mg</a:t>
                      </a:r>
                    </a:p>
                  </a:txBody>
                  <a:tcPr marL="135467" marR="135467" marT="90311" marB="90311">
                    <a:lnL w="6350" cap="flat" cmpd="sng" algn="ctr">
                      <a:solidFill>
                        <a:srgbClr val="028090"/>
                      </a:solidFill>
                      <a:prstDash val="solid"/>
                      <a:round/>
                      <a:headEnd type="none" w="med" len="med"/>
                      <a:tailEnd type="none" w="med" len="med"/>
                    </a:lnL>
                    <a:lnR w="6350" cap="flat" cmpd="sng" algn="ctr">
                      <a:solidFill>
                        <a:srgbClr val="028090"/>
                      </a:solidFill>
                      <a:prstDash val="solid"/>
                      <a:round/>
                      <a:headEnd type="none" w="med" len="med"/>
                      <a:tailEnd type="none" w="med" len="med"/>
                    </a:lnR>
                    <a:lnT w="6350" cap="flat" cmpd="sng" algn="ctr">
                      <a:solidFill>
                        <a:srgbClr val="028090"/>
                      </a:solidFill>
                      <a:prstDash val="solid"/>
                      <a:round/>
                      <a:headEnd type="none" w="med" len="med"/>
                      <a:tailEnd type="none" w="med" len="med"/>
                    </a:lnT>
                    <a:lnB w="6350" cap="flat" cmpd="sng" algn="ctr">
                      <a:solidFill>
                        <a:srgbClr val="028090"/>
                      </a:solidFill>
                      <a:prstDash val="solid"/>
                      <a:round/>
                      <a:headEnd type="none" w="med" len="med"/>
                      <a:tailEnd type="none" w="med" len="med"/>
                    </a:lnB>
                  </a:tcPr>
                </a:tc>
                <a:tc>
                  <a:txBody>
                    <a:bodyPr/>
                    <a:lstStyle/>
                    <a:p>
                      <a:pPr marL="0" indent="0" algn="l" defTabSz="914400" rtl="0" eaLnBrk="1" latinLnBrk="0" hangingPunct="1">
                        <a:buNone/>
                      </a:pPr>
                      <a:r>
                        <a:rPr lang="en-US" sz="2000" b="1" kern="1200" dirty="0">
                          <a:solidFill>
                            <a:srgbClr val="102848"/>
                          </a:solidFill>
                          <a:latin typeface="Calibri" pitchFamily="34" charset="0"/>
                          <a:ea typeface="Calibri" pitchFamily="34" charset="-122"/>
                          <a:cs typeface="Calibri" pitchFamily="34" charset="-120"/>
                        </a:rPr>
                        <a:t>CVS Downtown SF</a:t>
                      </a:r>
                    </a:p>
                  </a:txBody>
                  <a:tcPr marL="135467" marR="135467" marT="90311" marB="90311">
                    <a:lnL w="6350" cap="flat" cmpd="sng" algn="ctr">
                      <a:solidFill>
                        <a:srgbClr val="028090"/>
                      </a:solidFill>
                      <a:prstDash val="solid"/>
                      <a:round/>
                      <a:headEnd type="none" w="med" len="med"/>
                      <a:tailEnd type="none" w="med" len="med"/>
                    </a:lnL>
                    <a:lnR w="6350" cap="flat" cmpd="sng" algn="ctr">
                      <a:solidFill>
                        <a:srgbClr val="028090"/>
                      </a:solidFill>
                      <a:prstDash val="solid"/>
                      <a:round/>
                      <a:headEnd type="none" w="med" len="med"/>
                      <a:tailEnd type="none" w="med" len="med"/>
                    </a:lnR>
                    <a:lnT w="6350" cap="flat" cmpd="sng" algn="ctr">
                      <a:solidFill>
                        <a:srgbClr val="028090"/>
                      </a:solidFill>
                      <a:prstDash val="solid"/>
                      <a:round/>
                      <a:headEnd type="none" w="med" len="med"/>
                      <a:tailEnd type="none" w="med" len="med"/>
                    </a:lnT>
                    <a:lnB w="6350" cap="flat" cmpd="sng" algn="ctr">
                      <a:solidFill>
                        <a:srgbClr val="028090"/>
                      </a:solidFill>
                      <a:prstDash val="solid"/>
                      <a:round/>
                      <a:headEnd type="none" w="med" len="med"/>
                      <a:tailEnd type="none" w="med" len="med"/>
                    </a:lnB>
                  </a:tcPr>
                </a:tc>
                <a:tc>
                  <a:txBody>
                    <a:bodyPr/>
                    <a:lstStyle/>
                    <a:p>
                      <a:pPr marL="0" indent="0">
                        <a:buNone/>
                      </a:pPr>
                      <a:r>
                        <a:rPr lang="en-US" sz="2000" b="1" dirty="0">
                          <a:solidFill>
                            <a:srgbClr val="059669"/>
                          </a:solidFill>
                          <a:latin typeface="Calibri" pitchFamily="34" charset="0"/>
                          <a:ea typeface="Calibri" pitchFamily="34" charset="-122"/>
                          <a:cs typeface="Calibri" pitchFamily="34" charset="-120"/>
                        </a:rPr>
                        <a:t>Transfer: 50 units</a:t>
                      </a:r>
                      <a:endParaRPr lang="en-US" sz="2000" dirty="0">
                        <a:latin typeface="Calibri" charset="0"/>
                        <a:ea typeface="Calibri" charset="0"/>
                        <a:cs typeface="Calibri" charset="0"/>
                      </a:endParaRPr>
                    </a:p>
                  </a:txBody>
                  <a:tcPr marL="135467" marR="135467" marT="90311" marB="90311">
                    <a:lnL w="6350" cap="flat" cmpd="sng" algn="ctr">
                      <a:solidFill>
                        <a:srgbClr val="028090"/>
                      </a:solidFill>
                      <a:prstDash val="solid"/>
                      <a:round/>
                      <a:headEnd type="none" w="med" len="med"/>
                      <a:tailEnd type="none" w="med" len="med"/>
                    </a:lnL>
                    <a:lnR w="6350" cap="flat" cmpd="sng" algn="ctr">
                      <a:solidFill>
                        <a:srgbClr val="028090"/>
                      </a:solidFill>
                      <a:prstDash val="solid"/>
                      <a:round/>
                      <a:headEnd type="none" w="med" len="med"/>
                      <a:tailEnd type="none" w="med" len="med"/>
                    </a:lnR>
                    <a:lnT w="6350" cap="flat" cmpd="sng" algn="ctr">
                      <a:solidFill>
                        <a:srgbClr val="028090"/>
                      </a:solidFill>
                      <a:prstDash val="solid"/>
                      <a:round/>
                      <a:headEnd type="none" w="med" len="med"/>
                      <a:tailEnd type="none" w="med" len="med"/>
                    </a:lnT>
                    <a:lnB w="6350" cap="flat" cmpd="sng" algn="ctr">
                      <a:solidFill>
                        <a:srgbClr val="028090"/>
                      </a:solidFill>
                      <a:prstDash val="solid"/>
                      <a:round/>
                      <a:headEnd type="none" w="med" len="med"/>
                      <a:tailEnd type="none" w="med" len="med"/>
                    </a:lnB>
                  </a:tcPr>
                </a:tc>
                <a:tc>
                  <a:txBody>
                    <a:bodyPr/>
                    <a:lstStyle/>
                    <a:p>
                      <a:pPr marL="0" indent="0" algn="l" defTabSz="914400" rtl="0" eaLnBrk="1" latinLnBrk="0" hangingPunct="1">
                        <a:buNone/>
                      </a:pPr>
                      <a:r>
                        <a:rPr lang="en-US" sz="2000" b="1" kern="1200" dirty="0">
                          <a:solidFill>
                            <a:srgbClr val="102848"/>
                          </a:solidFill>
                          <a:latin typeface="Calibri" pitchFamily="34" charset="0"/>
                          <a:ea typeface="Calibri" pitchFamily="34" charset="-122"/>
                          <a:cs typeface="Calibri" pitchFamily="34" charset="-120"/>
                        </a:rPr>
                        <a:t>CVS Westside SF</a:t>
                      </a:r>
                    </a:p>
                  </a:txBody>
                  <a:tcPr marL="135467" marR="135467" marT="90311" marB="90311">
                    <a:lnL w="6350" cap="flat" cmpd="sng" algn="ctr">
                      <a:solidFill>
                        <a:srgbClr val="028090"/>
                      </a:solidFill>
                      <a:prstDash val="solid"/>
                      <a:round/>
                      <a:headEnd type="none" w="med" len="med"/>
                      <a:tailEnd type="none" w="med" len="med"/>
                    </a:lnL>
                    <a:lnR w="6350" cap="flat" cmpd="sng" algn="ctr">
                      <a:solidFill>
                        <a:srgbClr val="028090"/>
                      </a:solidFill>
                      <a:prstDash val="solid"/>
                      <a:round/>
                      <a:headEnd type="none" w="med" len="med"/>
                      <a:tailEnd type="none" w="med" len="med"/>
                    </a:lnR>
                    <a:lnT w="6350" cap="flat" cmpd="sng" algn="ctr">
                      <a:solidFill>
                        <a:srgbClr val="028090"/>
                      </a:solidFill>
                      <a:prstDash val="solid"/>
                      <a:round/>
                      <a:headEnd type="none" w="med" len="med"/>
                      <a:tailEnd type="none" w="med" len="med"/>
                    </a:lnT>
                    <a:lnB w="6350" cap="flat" cmpd="sng" algn="ctr">
                      <a:solidFill>
                        <a:srgbClr val="028090"/>
                      </a:solidFill>
                      <a:prstDash val="solid"/>
                      <a:round/>
                      <a:headEnd type="none" w="med" len="med"/>
                      <a:tailEnd type="none" w="med" len="med"/>
                    </a:lnB>
                  </a:tcPr>
                </a:tc>
                <a:extLst>
                  <a:ext uri="{0D108BD9-81ED-4DB2-BD59-A6C34878D82A}">
                    <a16:rowId xmlns:a16="http://schemas.microsoft.com/office/drawing/2014/main" val="10001"/>
                  </a:ext>
                </a:extLst>
              </a:tr>
              <a:tr h="682752">
                <a:tc>
                  <a:txBody>
                    <a:bodyPr/>
                    <a:lstStyle/>
                    <a:p>
                      <a:pPr marL="0" indent="0" algn="l" defTabSz="914400" rtl="0" eaLnBrk="1" latinLnBrk="0" hangingPunct="1">
                        <a:buNone/>
                      </a:pPr>
                      <a:r>
                        <a:rPr lang="en-US" sz="2000" b="1" kern="1200" dirty="0">
                          <a:solidFill>
                            <a:srgbClr val="102848"/>
                          </a:solidFill>
                          <a:latin typeface="Calibri" pitchFamily="34" charset="0"/>
                          <a:ea typeface="Calibri" pitchFamily="34" charset="-122"/>
                          <a:cs typeface="Calibri" pitchFamily="34" charset="-120"/>
                        </a:rPr>
                        <a:t>2</a:t>
                      </a:r>
                    </a:p>
                  </a:txBody>
                  <a:tcPr marL="135467" marR="135467" marT="90311" marB="90311">
                    <a:lnL w="6350" cap="flat" cmpd="sng" algn="ctr">
                      <a:solidFill>
                        <a:srgbClr val="028090"/>
                      </a:solidFill>
                      <a:prstDash val="solid"/>
                      <a:round/>
                      <a:headEnd type="none" w="med" len="med"/>
                      <a:tailEnd type="none" w="med" len="med"/>
                    </a:lnL>
                    <a:lnR w="6350" cap="flat" cmpd="sng" algn="ctr">
                      <a:solidFill>
                        <a:srgbClr val="028090"/>
                      </a:solidFill>
                      <a:prstDash val="solid"/>
                      <a:round/>
                      <a:headEnd type="none" w="med" len="med"/>
                      <a:tailEnd type="none" w="med" len="med"/>
                    </a:lnR>
                    <a:lnT w="6350" cap="flat" cmpd="sng" algn="ctr">
                      <a:solidFill>
                        <a:srgbClr val="028090"/>
                      </a:solidFill>
                      <a:prstDash val="solid"/>
                      <a:round/>
                      <a:headEnd type="none" w="med" len="med"/>
                      <a:tailEnd type="none" w="med" len="med"/>
                    </a:lnT>
                    <a:lnB w="6350" cap="flat" cmpd="sng" algn="ctr">
                      <a:solidFill>
                        <a:srgbClr val="028090"/>
                      </a:solidFill>
                      <a:prstDash val="solid"/>
                      <a:round/>
                      <a:headEnd type="none" w="med" len="med"/>
                      <a:tailEnd type="none" w="med" len="med"/>
                    </a:lnB>
                  </a:tcPr>
                </a:tc>
                <a:tc>
                  <a:txBody>
                    <a:bodyPr/>
                    <a:lstStyle/>
                    <a:p>
                      <a:pPr marL="0" indent="0" algn="l" defTabSz="914400" rtl="0" eaLnBrk="1" latinLnBrk="0" hangingPunct="1">
                        <a:buNone/>
                      </a:pPr>
                      <a:r>
                        <a:rPr lang="en-US" sz="2000" b="1" kern="1200" dirty="0">
                          <a:solidFill>
                            <a:srgbClr val="102848"/>
                          </a:solidFill>
                          <a:latin typeface="Calibri" pitchFamily="34" charset="0"/>
                          <a:ea typeface="Calibri" pitchFamily="34" charset="-122"/>
                          <a:cs typeface="Calibri" pitchFamily="34" charset="-120"/>
                        </a:rPr>
                        <a:t>Adderall XR 30mg</a:t>
                      </a:r>
                    </a:p>
                  </a:txBody>
                  <a:tcPr marL="135467" marR="135467" marT="90311" marB="90311">
                    <a:lnL w="6350" cap="flat" cmpd="sng" algn="ctr">
                      <a:solidFill>
                        <a:srgbClr val="028090"/>
                      </a:solidFill>
                      <a:prstDash val="solid"/>
                      <a:round/>
                      <a:headEnd type="none" w="med" len="med"/>
                      <a:tailEnd type="none" w="med" len="med"/>
                    </a:lnL>
                    <a:lnR w="6350" cap="flat" cmpd="sng" algn="ctr">
                      <a:solidFill>
                        <a:srgbClr val="028090"/>
                      </a:solidFill>
                      <a:prstDash val="solid"/>
                      <a:round/>
                      <a:headEnd type="none" w="med" len="med"/>
                      <a:tailEnd type="none" w="med" len="med"/>
                    </a:lnR>
                    <a:lnT w="6350" cap="flat" cmpd="sng" algn="ctr">
                      <a:solidFill>
                        <a:srgbClr val="028090"/>
                      </a:solidFill>
                      <a:prstDash val="solid"/>
                      <a:round/>
                      <a:headEnd type="none" w="med" len="med"/>
                      <a:tailEnd type="none" w="med" len="med"/>
                    </a:lnT>
                    <a:lnB w="6350" cap="flat" cmpd="sng" algn="ctr">
                      <a:solidFill>
                        <a:srgbClr val="028090"/>
                      </a:solidFill>
                      <a:prstDash val="solid"/>
                      <a:round/>
                      <a:headEnd type="none" w="med" len="med"/>
                      <a:tailEnd type="none" w="med" len="med"/>
                    </a:lnB>
                  </a:tcPr>
                </a:tc>
                <a:tc>
                  <a:txBody>
                    <a:bodyPr/>
                    <a:lstStyle/>
                    <a:p>
                      <a:pPr marL="0" indent="0" algn="l" defTabSz="914400" rtl="0" eaLnBrk="1" latinLnBrk="0" hangingPunct="1">
                        <a:buNone/>
                      </a:pPr>
                      <a:r>
                        <a:rPr lang="en-US" sz="2000" b="1" kern="1200" dirty="0">
                          <a:solidFill>
                            <a:srgbClr val="102848"/>
                          </a:solidFill>
                          <a:latin typeface="Calibri" pitchFamily="34" charset="0"/>
                          <a:ea typeface="Calibri" pitchFamily="34" charset="-122"/>
                          <a:cs typeface="Calibri" pitchFamily="34" charset="-120"/>
                        </a:rPr>
                        <a:t>CVS Downtown SF</a:t>
                      </a:r>
                    </a:p>
                  </a:txBody>
                  <a:tcPr marL="135467" marR="135467" marT="90311" marB="90311">
                    <a:lnL w="6350" cap="flat" cmpd="sng" algn="ctr">
                      <a:solidFill>
                        <a:srgbClr val="028090"/>
                      </a:solidFill>
                      <a:prstDash val="solid"/>
                      <a:round/>
                      <a:headEnd type="none" w="med" len="med"/>
                      <a:tailEnd type="none" w="med" len="med"/>
                    </a:lnL>
                    <a:lnR w="6350" cap="flat" cmpd="sng" algn="ctr">
                      <a:solidFill>
                        <a:srgbClr val="028090"/>
                      </a:solidFill>
                      <a:prstDash val="solid"/>
                      <a:round/>
                      <a:headEnd type="none" w="med" len="med"/>
                      <a:tailEnd type="none" w="med" len="med"/>
                    </a:lnR>
                    <a:lnT w="6350" cap="flat" cmpd="sng" algn="ctr">
                      <a:solidFill>
                        <a:srgbClr val="028090"/>
                      </a:solidFill>
                      <a:prstDash val="solid"/>
                      <a:round/>
                      <a:headEnd type="none" w="med" len="med"/>
                      <a:tailEnd type="none" w="med" len="med"/>
                    </a:lnT>
                    <a:lnB w="6350" cap="flat" cmpd="sng" algn="ctr">
                      <a:solidFill>
                        <a:srgbClr val="028090"/>
                      </a:solidFill>
                      <a:prstDash val="solid"/>
                      <a:round/>
                      <a:headEnd type="none" w="med" len="med"/>
                      <a:tailEnd type="none" w="med" len="med"/>
                    </a:lnB>
                  </a:tcPr>
                </a:tc>
                <a:tc>
                  <a:txBody>
                    <a:bodyPr/>
                    <a:lstStyle/>
                    <a:p>
                      <a:pPr marL="0" indent="0">
                        <a:buNone/>
                      </a:pPr>
                      <a:r>
                        <a:rPr lang="en-US" sz="2000" b="1" dirty="0">
                          <a:solidFill>
                            <a:srgbClr val="DC2626"/>
                          </a:solidFill>
                          <a:latin typeface="Calibri" pitchFamily="34" charset="0"/>
                          <a:ea typeface="Calibri" pitchFamily="34" charset="-122"/>
                          <a:cs typeface="Calibri" pitchFamily="34" charset="-120"/>
                        </a:rPr>
                        <a:t>BLOCKED (Schedule II)</a:t>
                      </a:r>
                      <a:endParaRPr lang="en-US" sz="2000" dirty="0">
                        <a:latin typeface="Calibri" charset="0"/>
                        <a:ea typeface="Calibri" charset="0"/>
                        <a:cs typeface="Calibri" charset="0"/>
                      </a:endParaRPr>
                    </a:p>
                  </a:txBody>
                  <a:tcPr marL="135467" marR="135467" marT="90311" marB="90311">
                    <a:lnL w="6350" cap="flat" cmpd="sng" algn="ctr">
                      <a:solidFill>
                        <a:srgbClr val="028090"/>
                      </a:solidFill>
                      <a:prstDash val="solid"/>
                      <a:round/>
                      <a:headEnd type="none" w="med" len="med"/>
                      <a:tailEnd type="none" w="med" len="med"/>
                    </a:lnL>
                    <a:lnR w="6350" cap="flat" cmpd="sng" algn="ctr">
                      <a:solidFill>
                        <a:srgbClr val="028090"/>
                      </a:solidFill>
                      <a:prstDash val="solid"/>
                      <a:round/>
                      <a:headEnd type="none" w="med" len="med"/>
                      <a:tailEnd type="none" w="med" len="med"/>
                    </a:lnR>
                    <a:lnT w="6350" cap="flat" cmpd="sng" algn="ctr">
                      <a:solidFill>
                        <a:srgbClr val="028090"/>
                      </a:solidFill>
                      <a:prstDash val="solid"/>
                      <a:round/>
                      <a:headEnd type="none" w="med" len="med"/>
                      <a:tailEnd type="none" w="med" len="med"/>
                    </a:lnT>
                    <a:lnB w="6350" cap="flat" cmpd="sng" algn="ctr">
                      <a:solidFill>
                        <a:srgbClr val="028090"/>
                      </a:solidFill>
                      <a:prstDash val="solid"/>
                      <a:round/>
                      <a:headEnd type="none" w="med" len="med"/>
                      <a:tailEnd type="none" w="med" len="med"/>
                    </a:lnB>
                  </a:tcPr>
                </a:tc>
                <a:tc>
                  <a:txBody>
                    <a:bodyPr/>
                    <a:lstStyle/>
                    <a:p>
                      <a:pPr marL="0" indent="0" algn="l" defTabSz="914400" rtl="0" eaLnBrk="1" latinLnBrk="0" hangingPunct="1">
                        <a:buNone/>
                      </a:pPr>
                      <a:r>
                        <a:rPr lang="en-US" sz="2000" b="1" kern="1200" dirty="0">
                          <a:solidFill>
                            <a:srgbClr val="102848"/>
                          </a:solidFill>
                          <a:latin typeface="Calibri" pitchFamily="34" charset="0"/>
                          <a:ea typeface="Calibri" pitchFamily="34" charset="-122"/>
                          <a:cs typeface="Calibri" pitchFamily="34" charset="-120"/>
                        </a:rPr>
                        <a:t>None — gate fires first</a:t>
                      </a:r>
                    </a:p>
                  </a:txBody>
                  <a:tcPr marL="135467" marR="135467" marT="90311" marB="90311">
                    <a:lnL w="6350" cap="flat" cmpd="sng" algn="ctr">
                      <a:solidFill>
                        <a:srgbClr val="028090"/>
                      </a:solidFill>
                      <a:prstDash val="solid"/>
                      <a:round/>
                      <a:headEnd type="none" w="med" len="med"/>
                      <a:tailEnd type="none" w="med" len="med"/>
                    </a:lnL>
                    <a:lnR w="6350" cap="flat" cmpd="sng" algn="ctr">
                      <a:solidFill>
                        <a:srgbClr val="028090"/>
                      </a:solidFill>
                      <a:prstDash val="solid"/>
                      <a:round/>
                      <a:headEnd type="none" w="med" len="med"/>
                      <a:tailEnd type="none" w="med" len="med"/>
                    </a:lnR>
                    <a:lnT w="6350" cap="flat" cmpd="sng" algn="ctr">
                      <a:solidFill>
                        <a:srgbClr val="028090"/>
                      </a:solidFill>
                      <a:prstDash val="solid"/>
                      <a:round/>
                      <a:headEnd type="none" w="med" len="med"/>
                      <a:tailEnd type="none" w="med" len="med"/>
                    </a:lnT>
                    <a:lnB w="6350" cap="flat" cmpd="sng" algn="ctr">
                      <a:solidFill>
                        <a:srgbClr val="028090"/>
                      </a:solidFill>
                      <a:prstDash val="solid"/>
                      <a:round/>
                      <a:headEnd type="none" w="med" len="med"/>
                      <a:tailEnd type="none" w="med" len="med"/>
                    </a:lnB>
                  </a:tcPr>
                </a:tc>
                <a:extLst>
                  <a:ext uri="{0D108BD9-81ED-4DB2-BD59-A6C34878D82A}">
                    <a16:rowId xmlns:a16="http://schemas.microsoft.com/office/drawing/2014/main" val="10002"/>
                  </a:ext>
                </a:extLst>
              </a:tr>
              <a:tr h="682752">
                <a:tc>
                  <a:txBody>
                    <a:bodyPr/>
                    <a:lstStyle/>
                    <a:p>
                      <a:pPr marL="0" indent="0" algn="l" defTabSz="914400" rtl="0" eaLnBrk="1" latinLnBrk="0" hangingPunct="1">
                        <a:buNone/>
                      </a:pPr>
                      <a:r>
                        <a:rPr lang="en-US" sz="2000" b="1" kern="1200" dirty="0">
                          <a:solidFill>
                            <a:srgbClr val="102848"/>
                          </a:solidFill>
                          <a:latin typeface="Calibri" pitchFamily="34" charset="0"/>
                          <a:ea typeface="Calibri" pitchFamily="34" charset="-122"/>
                          <a:cs typeface="Calibri" pitchFamily="34" charset="-120"/>
                        </a:rPr>
                        <a:t>3</a:t>
                      </a:r>
                    </a:p>
                  </a:txBody>
                  <a:tcPr marL="135467" marR="135467" marT="90311" marB="90311">
                    <a:lnL w="6350" cap="flat" cmpd="sng" algn="ctr">
                      <a:solidFill>
                        <a:srgbClr val="028090"/>
                      </a:solidFill>
                      <a:prstDash val="solid"/>
                      <a:round/>
                      <a:headEnd type="none" w="med" len="med"/>
                      <a:tailEnd type="none" w="med" len="med"/>
                    </a:lnL>
                    <a:lnR w="6350" cap="flat" cmpd="sng" algn="ctr">
                      <a:solidFill>
                        <a:srgbClr val="028090"/>
                      </a:solidFill>
                      <a:prstDash val="solid"/>
                      <a:round/>
                      <a:headEnd type="none" w="med" len="med"/>
                      <a:tailEnd type="none" w="med" len="med"/>
                    </a:lnR>
                    <a:lnT w="6350" cap="flat" cmpd="sng" algn="ctr">
                      <a:solidFill>
                        <a:srgbClr val="028090"/>
                      </a:solidFill>
                      <a:prstDash val="solid"/>
                      <a:round/>
                      <a:headEnd type="none" w="med" len="med"/>
                      <a:tailEnd type="none" w="med" len="med"/>
                    </a:lnT>
                    <a:lnB w="6350" cap="flat" cmpd="sng" algn="ctr">
                      <a:solidFill>
                        <a:srgbClr val="028090"/>
                      </a:solidFill>
                      <a:prstDash val="solid"/>
                      <a:round/>
                      <a:headEnd type="none" w="med" len="med"/>
                      <a:tailEnd type="none" w="med" len="med"/>
                    </a:lnB>
                  </a:tcPr>
                </a:tc>
                <a:tc>
                  <a:txBody>
                    <a:bodyPr/>
                    <a:lstStyle/>
                    <a:p>
                      <a:pPr marL="0" indent="0" algn="l" defTabSz="914400" rtl="0" eaLnBrk="1" latinLnBrk="0" hangingPunct="1">
                        <a:buNone/>
                      </a:pPr>
                      <a:r>
                        <a:rPr lang="en-US" sz="2000" b="1" kern="1200" dirty="0">
                          <a:solidFill>
                            <a:srgbClr val="102848"/>
                          </a:solidFill>
                          <a:latin typeface="Calibri" pitchFamily="34" charset="0"/>
                          <a:ea typeface="Calibri" pitchFamily="34" charset="-122"/>
                          <a:cs typeface="Calibri" pitchFamily="34" charset="-120"/>
                        </a:rPr>
                        <a:t>Lisinopril 10mg</a:t>
                      </a:r>
                    </a:p>
                  </a:txBody>
                  <a:tcPr marL="135467" marR="135467" marT="90311" marB="90311">
                    <a:lnL w="6350" cap="flat" cmpd="sng" algn="ctr">
                      <a:solidFill>
                        <a:srgbClr val="028090"/>
                      </a:solidFill>
                      <a:prstDash val="solid"/>
                      <a:round/>
                      <a:headEnd type="none" w="med" len="med"/>
                      <a:tailEnd type="none" w="med" len="med"/>
                    </a:lnL>
                    <a:lnR w="6350" cap="flat" cmpd="sng" algn="ctr">
                      <a:solidFill>
                        <a:srgbClr val="028090"/>
                      </a:solidFill>
                      <a:prstDash val="solid"/>
                      <a:round/>
                      <a:headEnd type="none" w="med" len="med"/>
                      <a:tailEnd type="none" w="med" len="med"/>
                    </a:lnR>
                    <a:lnT w="6350" cap="flat" cmpd="sng" algn="ctr">
                      <a:solidFill>
                        <a:srgbClr val="028090"/>
                      </a:solidFill>
                      <a:prstDash val="solid"/>
                      <a:round/>
                      <a:headEnd type="none" w="med" len="med"/>
                      <a:tailEnd type="none" w="med" len="med"/>
                    </a:lnT>
                    <a:lnB w="6350" cap="flat" cmpd="sng" algn="ctr">
                      <a:solidFill>
                        <a:srgbClr val="028090"/>
                      </a:solidFill>
                      <a:prstDash val="solid"/>
                      <a:round/>
                      <a:headEnd type="none" w="med" len="med"/>
                      <a:tailEnd type="none" w="med" len="med"/>
                    </a:lnB>
                  </a:tcPr>
                </a:tc>
                <a:tc>
                  <a:txBody>
                    <a:bodyPr/>
                    <a:lstStyle/>
                    <a:p>
                      <a:pPr marL="0" indent="0" algn="l" defTabSz="914400" rtl="0" eaLnBrk="1" latinLnBrk="0" hangingPunct="1">
                        <a:buNone/>
                      </a:pPr>
                      <a:r>
                        <a:rPr lang="en-US" sz="2000" b="1" kern="1200" dirty="0">
                          <a:solidFill>
                            <a:srgbClr val="102848"/>
                          </a:solidFill>
                          <a:latin typeface="Calibri" pitchFamily="34" charset="0"/>
                          <a:ea typeface="Calibri" pitchFamily="34" charset="-122"/>
                          <a:cs typeface="Calibri" pitchFamily="34" charset="-120"/>
                        </a:rPr>
                        <a:t>CVS Downtown SF</a:t>
                      </a:r>
                    </a:p>
                  </a:txBody>
                  <a:tcPr marL="135467" marR="135467" marT="90311" marB="90311">
                    <a:lnL w="6350" cap="flat" cmpd="sng" algn="ctr">
                      <a:solidFill>
                        <a:srgbClr val="028090"/>
                      </a:solidFill>
                      <a:prstDash val="solid"/>
                      <a:round/>
                      <a:headEnd type="none" w="med" len="med"/>
                      <a:tailEnd type="none" w="med" len="med"/>
                    </a:lnL>
                    <a:lnR w="6350" cap="flat" cmpd="sng" algn="ctr">
                      <a:solidFill>
                        <a:srgbClr val="028090"/>
                      </a:solidFill>
                      <a:prstDash val="solid"/>
                      <a:round/>
                      <a:headEnd type="none" w="med" len="med"/>
                      <a:tailEnd type="none" w="med" len="med"/>
                    </a:lnR>
                    <a:lnT w="6350" cap="flat" cmpd="sng" algn="ctr">
                      <a:solidFill>
                        <a:srgbClr val="028090"/>
                      </a:solidFill>
                      <a:prstDash val="solid"/>
                      <a:round/>
                      <a:headEnd type="none" w="med" len="med"/>
                      <a:tailEnd type="none" w="med" len="med"/>
                    </a:lnT>
                    <a:lnB w="6350" cap="flat" cmpd="sng" algn="ctr">
                      <a:solidFill>
                        <a:srgbClr val="028090"/>
                      </a:solidFill>
                      <a:prstDash val="solid"/>
                      <a:round/>
                      <a:headEnd type="none" w="med" len="med"/>
                      <a:tailEnd type="none" w="med" len="med"/>
                    </a:lnB>
                  </a:tcPr>
                </a:tc>
                <a:tc>
                  <a:txBody>
                    <a:bodyPr/>
                    <a:lstStyle/>
                    <a:p>
                      <a:pPr marL="0" indent="0">
                        <a:buNone/>
                      </a:pPr>
                      <a:r>
                        <a:rPr lang="en-US" sz="2000" b="1" dirty="0">
                          <a:solidFill>
                            <a:srgbClr val="D97706"/>
                          </a:solidFill>
                          <a:latin typeface="Calibri" pitchFamily="34" charset="0"/>
                          <a:ea typeface="Calibri" pitchFamily="34" charset="-122"/>
                          <a:cs typeface="Calibri" pitchFamily="34" charset="-120"/>
                        </a:rPr>
                        <a:t>Distributor fallback</a:t>
                      </a:r>
                      <a:endParaRPr lang="en-US" sz="2000" dirty="0">
                        <a:latin typeface="Calibri" charset="0"/>
                        <a:ea typeface="Calibri" charset="0"/>
                        <a:cs typeface="Calibri" charset="0"/>
                      </a:endParaRPr>
                    </a:p>
                  </a:txBody>
                  <a:tcPr marL="135467" marR="135467" marT="90311" marB="90311">
                    <a:lnL w="6350" cap="flat" cmpd="sng" algn="ctr">
                      <a:solidFill>
                        <a:srgbClr val="028090"/>
                      </a:solidFill>
                      <a:prstDash val="solid"/>
                      <a:round/>
                      <a:headEnd type="none" w="med" len="med"/>
                      <a:tailEnd type="none" w="med" len="med"/>
                    </a:lnL>
                    <a:lnR w="6350" cap="flat" cmpd="sng" algn="ctr">
                      <a:solidFill>
                        <a:srgbClr val="028090"/>
                      </a:solidFill>
                      <a:prstDash val="solid"/>
                      <a:round/>
                      <a:headEnd type="none" w="med" len="med"/>
                      <a:tailEnd type="none" w="med" len="med"/>
                    </a:lnR>
                    <a:lnT w="6350" cap="flat" cmpd="sng" algn="ctr">
                      <a:solidFill>
                        <a:srgbClr val="028090"/>
                      </a:solidFill>
                      <a:prstDash val="solid"/>
                      <a:round/>
                      <a:headEnd type="none" w="med" len="med"/>
                      <a:tailEnd type="none" w="med" len="med"/>
                    </a:lnT>
                    <a:lnB w="6350" cap="flat" cmpd="sng" algn="ctr">
                      <a:solidFill>
                        <a:srgbClr val="028090"/>
                      </a:solidFill>
                      <a:prstDash val="solid"/>
                      <a:round/>
                      <a:headEnd type="none" w="med" len="med"/>
                      <a:tailEnd type="none" w="med" len="med"/>
                    </a:lnB>
                  </a:tcPr>
                </a:tc>
                <a:tc>
                  <a:txBody>
                    <a:bodyPr/>
                    <a:lstStyle/>
                    <a:p>
                      <a:pPr marL="0" indent="0" algn="l" defTabSz="914400" rtl="0" eaLnBrk="1" latinLnBrk="0" hangingPunct="1">
                        <a:buNone/>
                      </a:pPr>
                      <a:r>
                        <a:rPr lang="en-US" sz="2000" b="1" kern="1200" dirty="0">
                          <a:solidFill>
                            <a:srgbClr val="102848"/>
                          </a:solidFill>
                          <a:latin typeface="Calibri" pitchFamily="34" charset="0"/>
                          <a:ea typeface="Calibri" pitchFamily="34" charset="-122"/>
                          <a:cs typeface="Calibri" pitchFamily="34" charset="-120"/>
                        </a:rPr>
                        <a:t>None — no surplus</a:t>
                      </a:r>
                    </a:p>
                  </a:txBody>
                  <a:tcPr marL="135467" marR="135467" marT="90311" marB="90311">
                    <a:lnL w="6350" cap="flat" cmpd="sng" algn="ctr">
                      <a:solidFill>
                        <a:srgbClr val="028090"/>
                      </a:solidFill>
                      <a:prstDash val="solid"/>
                      <a:round/>
                      <a:headEnd type="none" w="med" len="med"/>
                      <a:tailEnd type="none" w="med" len="med"/>
                    </a:lnL>
                    <a:lnR w="6350" cap="flat" cmpd="sng" algn="ctr">
                      <a:solidFill>
                        <a:srgbClr val="028090"/>
                      </a:solidFill>
                      <a:prstDash val="solid"/>
                      <a:round/>
                      <a:headEnd type="none" w="med" len="med"/>
                      <a:tailEnd type="none" w="med" len="med"/>
                    </a:lnR>
                    <a:lnT w="6350" cap="flat" cmpd="sng" algn="ctr">
                      <a:solidFill>
                        <a:srgbClr val="028090"/>
                      </a:solidFill>
                      <a:prstDash val="solid"/>
                      <a:round/>
                      <a:headEnd type="none" w="med" len="med"/>
                      <a:tailEnd type="none" w="med" len="med"/>
                    </a:lnT>
                    <a:lnB w="6350" cap="flat" cmpd="sng" algn="ctr">
                      <a:solidFill>
                        <a:srgbClr val="028090"/>
                      </a:solidFill>
                      <a:prstDash val="solid"/>
                      <a:round/>
                      <a:headEnd type="none" w="med" len="med"/>
                      <a:tailEnd type="none" w="med" len="med"/>
                    </a:lnB>
                  </a:tcPr>
                </a:tc>
                <a:extLst>
                  <a:ext uri="{0D108BD9-81ED-4DB2-BD59-A6C34878D82A}">
                    <a16:rowId xmlns:a16="http://schemas.microsoft.com/office/drawing/2014/main" val="10003"/>
                  </a:ext>
                </a:extLst>
              </a:tr>
              <a:tr h="682752">
                <a:tc>
                  <a:txBody>
                    <a:bodyPr/>
                    <a:lstStyle/>
                    <a:p>
                      <a:pPr marL="0" indent="0" algn="l" defTabSz="914400" rtl="0" eaLnBrk="1" latinLnBrk="0" hangingPunct="1">
                        <a:buNone/>
                      </a:pPr>
                      <a:r>
                        <a:rPr lang="en-US" sz="2000" b="1" kern="1200" dirty="0">
                          <a:solidFill>
                            <a:srgbClr val="102848"/>
                          </a:solidFill>
                          <a:latin typeface="Calibri" pitchFamily="34" charset="0"/>
                          <a:ea typeface="Calibri" pitchFamily="34" charset="-122"/>
                          <a:cs typeface="Calibri" pitchFamily="34" charset="-120"/>
                        </a:rPr>
                        <a:t>4</a:t>
                      </a:r>
                    </a:p>
                  </a:txBody>
                  <a:tcPr marL="135467" marR="135467" marT="90311" marB="90311">
                    <a:lnL w="6350" cap="flat" cmpd="sng" algn="ctr">
                      <a:solidFill>
                        <a:srgbClr val="028090"/>
                      </a:solidFill>
                      <a:prstDash val="solid"/>
                      <a:round/>
                      <a:headEnd type="none" w="med" len="med"/>
                      <a:tailEnd type="none" w="med" len="med"/>
                    </a:lnL>
                    <a:lnR w="6350" cap="flat" cmpd="sng" algn="ctr">
                      <a:solidFill>
                        <a:srgbClr val="028090"/>
                      </a:solidFill>
                      <a:prstDash val="solid"/>
                      <a:round/>
                      <a:headEnd type="none" w="med" len="med"/>
                      <a:tailEnd type="none" w="med" len="med"/>
                    </a:lnR>
                    <a:lnT w="6350" cap="flat" cmpd="sng" algn="ctr">
                      <a:solidFill>
                        <a:srgbClr val="028090"/>
                      </a:solidFill>
                      <a:prstDash val="solid"/>
                      <a:round/>
                      <a:headEnd type="none" w="med" len="med"/>
                      <a:tailEnd type="none" w="med" len="med"/>
                    </a:lnT>
                    <a:lnB w="6350" cap="flat" cmpd="sng" algn="ctr">
                      <a:solidFill>
                        <a:srgbClr val="028090"/>
                      </a:solidFill>
                      <a:prstDash val="solid"/>
                      <a:round/>
                      <a:headEnd type="none" w="med" len="med"/>
                      <a:tailEnd type="none" w="med" len="med"/>
                    </a:lnB>
                  </a:tcPr>
                </a:tc>
                <a:tc>
                  <a:txBody>
                    <a:bodyPr/>
                    <a:lstStyle/>
                    <a:p>
                      <a:pPr marL="0" indent="0" algn="l" defTabSz="914400" rtl="0" eaLnBrk="1" latinLnBrk="0" hangingPunct="1">
                        <a:buNone/>
                      </a:pPr>
                      <a:r>
                        <a:rPr lang="en-US" sz="2000" b="1" kern="1200" dirty="0">
                          <a:solidFill>
                            <a:srgbClr val="102848"/>
                          </a:solidFill>
                          <a:latin typeface="Calibri" pitchFamily="34" charset="0"/>
                          <a:ea typeface="Calibri" pitchFamily="34" charset="-122"/>
                          <a:cs typeface="Calibri" pitchFamily="34" charset="-120"/>
                        </a:rPr>
                        <a:t>Ozempic 1mg</a:t>
                      </a:r>
                    </a:p>
                  </a:txBody>
                  <a:tcPr marL="135467" marR="135467" marT="90311" marB="90311">
                    <a:lnL w="6350" cap="flat" cmpd="sng" algn="ctr">
                      <a:solidFill>
                        <a:srgbClr val="028090"/>
                      </a:solidFill>
                      <a:prstDash val="solid"/>
                      <a:round/>
                      <a:headEnd type="none" w="med" len="med"/>
                      <a:tailEnd type="none" w="med" len="med"/>
                    </a:lnL>
                    <a:lnR w="6350" cap="flat" cmpd="sng" algn="ctr">
                      <a:solidFill>
                        <a:srgbClr val="028090"/>
                      </a:solidFill>
                      <a:prstDash val="solid"/>
                      <a:round/>
                      <a:headEnd type="none" w="med" len="med"/>
                      <a:tailEnd type="none" w="med" len="med"/>
                    </a:lnR>
                    <a:lnT w="6350" cap="flat" cmpd="sng" algn="ctr">
                      <a:solidFill>
                        <a:srgbClr val="028090"/>
                      </a:solidFill>
                      <a:prstDash val="solid"/>
                      <a:round/>
                      <a:headEnd type="none" w="med" len="med"/>
                      <a:tailEnd type="none" w="med" len="med"/>
                    </a:lnT>
                    <a:lnB w="6350" cap="flat" cmpd="sng" algn="ctr">
                      <a:solidFill>
                        <a:srgbClr val="028090"/>
                      </a:solidFill>
                      <a:prstDash val="solid"/>
                      <a:round/>
                      <a:headEnd type="none" w="med" len="med"/>
                      <a:tailEnd type="none" w="med" len="med"/>
                    </a:lnB>
                  </a:tcPr>
                </a:tc>
                <a:tc>
                  <a:txBody>
                    <a:bodyPr/>
                    <a:lstStyle/>
                    <a:p>
                      <a:pPr marL="0" indent="0" algn="l" defTabSz="914400" rtl="0" eaLnBrk="1" latinLnBrk="0" hangingPunct="1">
                        <a:buNone/>
                      </a:pPr>
                      <a:r>
                        <a:rPr lang="en-US" sz="2000" b="1" kern="1200" dirty="0">
                          <a:solidFill>
                            <a:srgbClr val="102848"/>
                          </a:solidFill>
                          <a:latin typeface="Calibri" pitchFamily="34" charset="0"/>
                          <a:ea typeface="Calibri" pitchFamily="34" charset="-122"/>
                          <a:cs typeface="Calibri" pitchFamily="34" charset="-120"/>
                        </a:rPr>
                        <a:t>CVS San Jose Central</a:t>
                      </a:r>
                    </a:p>
                  </a:txBody>
                  <a:tcPr marL="135467" marR="135467" marT="90311" marB="90311">
                    <a:lnL w="6350" cap="flat" cmpd="sng" algn="ctr">
                      <a:solidFill>
                        <a:srgbClr val="028090"/>
                      </a:solidFill>
                      <a:prstDash val="solid"/>
                      <a:round/>
                      <a:headEnd type="none" w="med" len="med"/>
                      <a:tailEnd type="none" w="med" len="med"/>
                    </a:lnL>
                    <a:lnR w="6350" cap="flat" cmpd="sng" algn="ctr">
                      <a:solidFill>
                        <a:srgbClr val="028090"/>
                      </a:solidFill>
                      <a:prstDash val="solid"/>
                      <a:round/>
                      <a:headEnd type="none" w="med" len="med"/>
                      <a:tailEnd type="none" w="med" len="med"/>
                    </a:lnR>
                    <a:lnT w="6350" cap="flat" cmpd="sng" algn="ctr">
                      <a:solidFill>
                        <a:srgbClr val="028090"/>
                      </a:solidFill>
                      <a:prstDash val="solid"/>
                      <a:round/>
                      <a:headEnd type="none" w="med" len="med"/>
                      <a:tailEnd type="none" w="med" len="med"/>
                    </a:lnT>
                    <a:lnB w="6350" cap="flat" cmpd="sng" algn="ctr">
                      <a:solidFill>
                        <a:srgbClr val="028090"/>
                      </a:solidFill>
                      <a:prstDash val="solid"/>
                      <a:round/>
                      <a:headEnd type="none" w="med" len="med"/>
                      <a:tailEnd type="none" w="med" len="med"/>
                    </a:lnB>
                  </a:tcPr>
                </a:tc>
                <a:tc>
                  <a:txBody>
                    <a:bodyPr/>
                    <a:lstStyle/>
                    <a:p>
                      <a:pPr marL="0" indent="0">
                        <a:buNone/>
                      </a:pPr>
                      <a:r>
                        <a:rPr lang="en-US" sz="2000" b="1" dirty="0">
                          <a:solidFill>
                            <a:srgbClr val="059669"/>
                          </a:solidFill>
                          <a:latin typeface="Calibri" pitchFamily="34" charset="0"/>
                          <a:ea typeface="Calibri" pitchFamily="34" charset="-122"/>
                          <a:cs typeface="Calibri" pitchFamily="34" charset="-120"/>
                        </a:rPr>
                        <a:t>Transfer: 30 units</a:t>
                      </a:r>
                      <a:endParaRPr lang="en-US" sz="2000" dirty="0">
                        <a:latin typeface="Calibri" charset="0"/>
                        <a:ea typeface="Calibri" charset="0"/>
                        <a:cs typeface="Calibri" charset="0"/>
                      </a:endParaRPr>
                    </a:p>
                  </a:txBody>
                  <a:tcPr marL="135467" marR="135467" marT="90311" marB="90311">
                    <a:lnL w="6350" cap="flat" cmpd="sng" algn="ctr">
                      <a:solidFill>
                        <a:srgbClr val="028090"/>
                      </a:solidFill>
                      <a:prstDash val="solid"/>
                      <a:round/>
                      <a:headEnd type="none" w="med" len="med"/>
                      <a:tailEnd type="none" w="med" len="med"/>
                    </a:lnL>
                    <a:lnR w="6350" cap="flat" cmpd="sng" algn="ctr">
                      <a:solidFill>
                        <a:srgbClr val="028090"/>
                      </a:solidFill>
                      <a:prstDash val="solid"/>
                      <a:round/>
                      <a:headEnd type="none" w="med" len="med"/>
                      <a:tailEnd type="none" w="med" len="med"/>
                    </a:lnR>
                    <a:lnT w="6350" cap="flat" cmpd="sng" algn="ctr">
                      <a:solidFill>
                        <a:srgbClr val="028090"/>
                      </a:solidFill>
                      <a:prstDash val="solid"/>
                      <a:round/>
                      <a:headEnd type="none" w="med" len="med"/>
                      <a:tailEnd type="none" w="med" len="med"/>
                    </a:lnT>
                    <a:lnB w="6350" cap="flat" cmpd="sng" algn="ctr">
                      <a:solidFill>
                        <a:srgbClr val="028090"/>
                      </a:solidFill>
                      <a:prstDash val="solid"/>
                      <a:round/>
                      <a:headEnd type="none" w="med" len="med"/>
                      <a:tailEnd type="none" w="med" len="med"/>
                    </a:lnB>
                  </a:tcPr>
                </a:tc>
                <a:tc>
                  <a:txBody>
                    <a:bodyPr/>
                    <a:lstStyle/>
                    <a:p>
                      <a:pPr marL="0" indent="0" algn="l" defTabSz="914400" rtl="0" eaLnBrk="1" latinLnBrk="0" hangingPunct="1">
                        <a:buNone/>
                      </a:pPr>
                      <a:r>
                        <a:rPr lang="en-US" sz="2000" b="1" kern="1200" dirty="0">
                          <a:solidFill>
                            <a:srgbClr val="102848"/>
                          </a:solidFill>
                          <a:latin typeface="Calibri" pitchFamily="34" charset="0"/>
                          <a:ea typeface="Calibri" pitchFamily="34" charset="-122"/>
                          <a:cs typeface="Calibri" pitchFamily="34" charset="-120"/>
                        </a:rPr>
                        <a:t>CVS Westside SF</a:t>
                      </a:r>
                    </a:p>
                  </a:txBody>
                  <a:tcPr marL="135467" marR="135467" marT="90311" marB="90311">
                    <a:lnL w="6350" cap="flat" cmpd="sng" algn="ctr">
                      <a:solidFill>
                        <a:srgbClr val="028090"/>
                      </a:solidFill>
                      <a:prstDash val="solid"/>
                      <a:round/>
                      <a:headEnd type="none" w="med" len="med"/>
                      <a:tailEnd type="none" w="med" len="med"/>
                    </a:lnL>
                    <a:lnR w="6350" cap="flat" cmpd="sng" algn="ctr">
                      <a:solidFill>
                        <a:srgbClr val="028090"/>
                      </a:solidFill>
                      <a:prstDash val="solid"/>
                      <a:round/>
                      <a:headEnd type="none" w="med" len="med"/>
                      <a:tailEnd type="none" w="med" len="med"/>
                    </a:lnR>
                    <a:lnT w="6350" cap="flat" cmpd="sng" algn="ctr">
                      <a:solidFill>
                        <a:srgbClr val="028090"/>
                      </a:solidFill>
                      <a:prstDash val="solid"/>
                      <a:round/>
                      <a:headEnd type="none" w="med" len="med"/>
                      <a:tailEnd type="none" w="med" len="med"/>
                    </a:lnT>
                    <a:lnB w="6350" cap="flat" cmpd="sng" algn="ctr">
                      <a:solidFill>
                        <a:srgbClr val="028090"/>
                      </a:solidFill>
                      <a:prstDash val="solid"/>
                      <a:round/>
                      <a:headEnd type="none" w="med" len="med"/>
                      <a:tailEnd type="none" w="med" len="med"/>
                    </a:lnB>
                  </a:tcPr>
                </a:tc>
                <a:extLst>
                  <a:ext uri="{0D108BD9-81ED-4DB2-BD59-A6C34878D82A}">
                    <a16:rowId xmlns:a16="http://schemas.microsoft.com/office/drawing/2014/main" val="10004"/>
                  </a:ext>
                </a:extLst>
              </a:tr>
              <a:tr h="682752">
                <a:tc>
                  <a:txBody>
                    <a:bodyPr/>
                    <a:lstStyle/>
                    <a:p>
                      <a:pPr marL="0" indent="0" algn="l" defTabSz="914400" rtl="0" eaLnBrk="1" latinLnBrk="0" hangingPunct="1">
                        <a:buNone/>
                      </a:pPr>
                      <a:r>
                        <a:rPr lang="en-US" sz="2000" b="1" kern="1200" dirty="0">
                          <a:solidFill>
                            <a:srgbClr val="102848"/>
                          </a:solidFill>
                          <a:latin typeface="Calibri" pitchFamily="34" charset="0"/>
                          <a:ea typeface="Calibri" pitchFamily="34" charset="-122"/>
                          <a:cs typeface="Calibri" pitchFamily="34" charset="-120"/>
                        </a:rPr>
                        <a:t>5</a:t>
                      </a:r>
                    </a:p>
                  </a:txBody>
                  <a:tcPr marL="135467" marR="135467" marT="90311" marB="90311">
                    <a:lnL w="6350" cap="flat" cmpd="sng" algn="ctr">
                      <a:solidFill>
                        <a:srgbClr val="028090"/>
                      </a:solidFill>
                      <a:prstDash val="solid"/>
                      <a:round/>
                      <a:headEnd type="none" w="med" len="med"/>
                      <a:tailEnd type="none" w="med" len="med"/>
                    </a:lnL>
                    <a:lnR w="6350" cap="flat" cmpd="sng" algn="ctr">
                      <a:solidFill>
                        <a:srgbClr val="028090"/>
                      </a:solidFill>
                      <a:prstDash val="solid"/>
                      <a:round/>
                      <a:headEnd type="none" w="med" len="med"/>
                      <a:tailEnd type="none" w="med" len="med"/>
                    </a:lnR>
                    <a:lnT w="6350" cap="flat" cmpd="sng" algn="ctr">
                      <a:solidFill>
                        <a:srgbClr val="028090"/>
                      </a:solidFill>
                      <a:prstDash val="solid"/>
                      <a:round/>
                      <a:headEnd type="none" w="med" len="med"/>
                      <a:tailEnd type="none" w="med" len="med"/>
                    </a:lnT>
                    <a:lnB w="6350" cap="flat" cmpd="sng" algn="ctr">
                      <a:solidFill>
                        <a:srgbClr val="028090"/>
                      </a:solidFill>
                      <a:prstDash val="solid"/>
                      <a:round/>
                      <a:headEnd type="none" w="med" len="med"/>
                      <a:tailEnd type="none" w="med" len="med"/>
                    </a:lnB>
                  </a:tcPr>
                </a:tc>
                <a:tc>
                  <a:txBody>
                    <a:bodyPr/>
                    <a:lstStyle/>
                    <a:p>
                      <a:pPr marL="0" indent="0" algn="l" defTabSz="914400" rtl="0" eaLnBrk="1" latinLnBrk="0" hangingPunct="1">
                        <a:buNone/>
                      </a:pPr>
                      <a:r>
                        <a:rPr lang="en-US" sz="2000" b="1" kern="1200" dirty="0">
                          <a:solidFill>
                            <a:srgbClr val="102848"/>
                          </a:solidFill>
                          <a:latin typeface="Calibri" pitchFamily="34" charset="0"/>
                          <a:ea typeface="Calibri" pitchFamily="34" charset="-122"/>
                          <a:cs typeface="Calibri" pitchFamily="34" charset="-120"/>
                        </a:rPr>
                        <a:t>Xanax 0.5mg</a:t>
                      </a:r>
                    </a:p>
                  </a:txBody>
                  <a:tcPr marL="135467" marR="135467" marT="90311" marB="90311">
                    <a:lnL w="6350" cap="flat" cmpd="sng" algn="ctr">
                      <a:solidFill>
                        <a:srgbClr val="028090"/>
                      </a:solidFill>
                      <a:prstDash val="solid"/>
                      <a:round/>
                      <a:headEnd type="none" w="med" len="med"/>
                      <a:tailEnd type="none" w="med" len="med"/>
                    </a:lnL>
                    <a:lnR w="6350" cap="flat" cmpd="sng" algn="ctr">
                      <a:solidFill>
                        <a:srgbClr val="028090"/>
                      </a:solidFill>
                      <a:prstDash val="solid"/>
                      <a:round/>
                      <a:headEnd type="none" w="med" len="med"/>
                      <a:tailEnd type="none" w="med" len="med"/>
                    </a:lnR>
                    <a:lnT w="6350" cap="flat" cmpd="sng" algn="ctr">
                      <a:solidFill>
                        <a:srgbClr val="028090"/>
                      </a:solidFill>
                      <a:prstDash val="solid"/>
                      <a:round/>
                      <a:headEnd type="none" w="med" len="med"/>
                      <a:tailEnd type="none" w="med" len="med"/>
                    </a:lnT>
                    <a:lnB w="6350" cap="flat" cmpd="sng" algn="ctr">
                      <a:solidFill>
                        <a:srgbClr val="028090"/>
                      </a:solidFill>
                      <a:prstDash val="solid"/>
                      <a:round/>
                      <a:headEnd type="none" w="med" len="med"/>
                      <a:tailEnd type="none" w="med" len="med"/>
                    </a:lnB>
                  </a:tcPr>
                </a:tc>
                <a:tc>
                  <a:txBody>
                    <a:bodyPr/>
                    <a:lstStyle/>
                    <a:p>
                      <a:pPr marL="0" indent="0" algn="l" defTabSz="914400" rtl="0" eaLnBrk="1" latinLnBrk="0" hangingPunct="1">
                        <a:buNone/>
                      </a:pPr>
                      <a:r>
                        <a:rPr lang="en-US" sz="2000" b="1" kern="1200" dirty="0">
                          <a:solidFill>
                            <a:srgbClr val="102848"/>
                          </a:solidFill>
                          <a:latin typeface="Calibri" pitchFamily="34" charset="0"/>
                          <a:ea typeface="Calibri" pitchFamily="34" charset="-122"/>
                          <a:cs typeface="Calibri" pitchFamily="34" charset="-120"/>
                        </a:rPr>
                        <a:t>CVS Eastside Oakland</a:t>
                      </a:r>
                    </a:p>
                  </a:txBody>
                  <a:tcPr marL="135467" marR="135467" marT="90311" marB="90311">
                    <a:lnL w="6350" cap="flat" cmpd="sng" algn="ctr">
                      <a:solidFill>
                        <a:srgbClr val="028090"/>
                      </a:solidFill>
                      <a:prstDash val="solid"/>
                      <a:round/>
                      <a:headEnd type="none" w="med" len="med"/>
                      <a:tailEnd type="none" w="med" len="med"/>
                    </a:lnL>
                    <a:lnR w="6350" cap="flat" cmpd="sng" algn="ctr">
                      <a:solidFill>
                        <a:srgbClr val="028090"/>
                      </a:solidFill>
                      <a:prstDash val="solid"/>
                      <a:round/>
                      <a:headEnd type="none" w="med" len="med"/>
                      <a:tailEnd type="none" w="med" len="med"/>
                    </a:lnR>
                    <a:lnT w="6350" cap="flat" cmpd="sng" algn="ctr">
                      <a:solidFill>
                        <a:srgbClr val="028090"/>
                      </a:solidFill>
                      <a:prstDash val="solid"/>
                      <a:round/>
                      <a:headEnd type="none" w="med" len="med"/>
                      <a:tailEnd type="none" w="med" len="med"/>
                    </a:lnT>
                    <a:lnB w="6350" cap="flat" cmpd="sng" algn="ctr">
                      <a:solidFill>
                        <a:srgbClr val="028090"/>
                      </a:solidFill>
                      <a:prstDash val="solid"/>
                      <a:round/>
                      <a:headEnd type="none" w="med" len="med"/>
                      <a:tailEnd type="none" w="med" len="med"/>
                    </a:lnB>
                  </a:tcPr>
                </a:tc>
                <a:tc>
                  <a:txBody>
                    <a:bodyPr/>
                    <a:lstStyle/>
                    <a:p>
                      <a:pPr marL="0" indent="0">
                        <a:buNone/>
                      </a:pPr>
                      <a:r>
                        <a:rPr lang="en-US" sz="2000" b="1" dirty="0">
                          <a:solidFill>
                            <a:srgbClr val="059669"/>
                          </a:solidFill>
                          <a:latin typeface="Calibri" pitchFamily="34" charset="0"/>
                          <a:ea typeface="Calibri" pitchFamily="34" charset="-122"/>
                          <a:cs typeface="Calibri" pitchFamily="34" charset="-120"/>
                        </a:rPr>
                        <a:t>Transfer: 30 units</a:t>
                      </a:r>
                      <a:endParaRPr lang="en-US" sz="2000" dirty="0">
                        <a:latin typeface="Calibri" charset="0"/>
                        <a:ea typeface="Calibri" charset="0"/>
                        <a:cs typeface="Calibri" charset="0"/>
                      </a:endParaRPr>
                    </a:p>
                  </a:txBody>
                  <a:tcPr marL="135467" marR="135467" marT="90311" marB="90311">
                    <a:lnL w="6350" cap="flat" cmpd="sng" algn="ctr">
                      <a:solidFill>
                        <a:srgbClr val="028090"/>
                      </a:solidFill>
                      <a:prstDash val="solid"/>
                      <a:round/>
                      <a:headEnd type="none" w="med" len="med"/>
                      <a:tailEnd type="none" w="med" len="med"/>
                    </a:lnL>
                    <a:lnR w="6350" cap="flat" cmpd="sng" algn="ctr">
                      <a:solidFill>
                        <a:srgbClr val="028090"/>
                      </a:solidFill>
                      <a:prstDash val="solid"/>
                      <a:round/>
                      <a:headEnd type="none" w="med" len="med"/>
                      <a:tailEnd type="none" w="med" len="med"/>
                    </a:lnR>
                    <a:lnT w="6350" cap="flat" cmpd="sng" algn="ctr">
                      <a:solidFill>
                        <a:srgbClr val="028090"/>
                      </a:solidFill>
                      <a:prstDash val="solid"/>
                      <a:round/>
                      <a:headEnd type="none" w="med" len="med"/>
                      <a:tailEnd type="none" w="med" len="med"/>
                    </a:lnT>
                    <a:lnB w="6350" cap="flat" cmpd="sng" algn="ctr">
                      <a:solidFill>
                        <a:srgbClr val="028090"/>
                      </a:solidFill>
                      <a:prstDash val="solid"/>
                      <a:round/>
                      <a:headEnd type="none" w="med" len="med"/>
                      <a:tailEnd type="none" w="med" len="med"/>
                    </a:lnB>
                  </a:tcPr>
                </a:tc>
                <a:tc>
                  <a:txBody>
                    <a:bodyPr/>
                    <a:lstStyle/>
                    <a:p>
                      <a:pPr marL="0" indent="0" algn="l" defTabSz="914400" rtl="0" eaLnBrk="1" latinLnBrk="0" hangingPunct="1">
                        <a:buNone/>
                      </a:pPr>
                      <a:r>
                        <a:rPr lang="en-US" sz="2000" b="1" kern="1200" dirty="0">
                          <a:solidFill>
                            <a:srgbClr val="102848"/>
                          </a:solidFill>
                          <a:latin typeface="Calibri" pitchFamily="34" charset="0"/>
                          <a:ea typeface="Calibri" pitchFamily="34" charset="-122"/>
                          <a:cs typeface="Calibri" pitchFamily="34" charset="-120"/>
                        </a:rPr>
                        <a:t>CVS San Jose Central</a:t>
                      </a:r>
                    </a:p>
                  </a:txBody>
                  <a:tcPr marL="135467" marR="135467" marT="90311" marB="90311">
                    <a:lnL w="6350" cap="flat" cmpd="sng" algn="ctr">
                      <a:solidFill>
                        <a:srgbClr val="028090"/>
                      </a:solidFill>
                      <a:prstDash val="solid"/>
                      <a:round/>
                      <a:headEnd type="none" w="med" len="med"/>
                      <a:tailEnd type="none" w="med" len="med"/>
                    </a:lnL>
                    <a:lnR w="6350" cap="flat" cmpd="sng" algn="ctr">
                      <a:solidFill>
                        <a:srgbClr val="028090"/>
                      </a:solidFill>
                      <a:prstDash val="solid"/>
                      <a:round/>
                      <a:headEnd type="none" w="med" len="med"/>
                      <a:tailEnd type="none" w="med" len="med"/>
                    </a:lnR>
                    <a:lnT w="6350" cap="flat" cmpd="sng" algn="ctr">
                      <a:solidFill>
                        <a:srgbClr val="028090"/>
                      </a:solidFill>
                      <a:prstDash val="solid"/>
                      <a:round/>
                      <a:headEnd type="none" w="med" len="med"/>
                      <a:tailEnd type="none" w="med" len="med"/>
                    </a:lnT>
                    <a:lnB w="6350" cap="flat" cmpd="sng" algn="ctr">
                      <a:solidFill>
                        <a:srgbClr val="028090"/>
                      </a:solidFill>
                      <a:prstDash val="solid"/>
                      <a:round/>
                      <a:headEnd type="none" w="med" len="med"/>
                      <a:tailEnd type="none" w="med" len="med"/>
                    </a:lnB>
                  </a:tcPr>
                </a:tc>
                <a:extLst>
                  <a:ext uri="{0D108BD9-81ED-4DB2-BD59-A6C34878D82A}">
                    <a16:rowId xmlns:a16="http://schemas.microsoft.com/office/drawing/2014/main" val="10005"/>
                  </a:ext>
                </a:extLst>
              </a:tr>
              <a:tr h="682752">
                <a:tc>
                  <a:txBody>
                    <a:bodyPr/>
                    <a:lstStyle/>
                    <a:p>
                      <a:pPr marL="0" indent="0" algn="l" defTabSz="914400" rtl="0" eaLnBrk="1" latinLnBrk="0" hangingPunct="1">
                        <a:buNone/>
                      </a:pPr>
                      <a:r>
                        <a:rPr lang="en-US" sz="2000" b="1" kern="1200" dirty="0">
                          <a:solidFill>
                            <a:srgbClr val="102848"/>
                          </a:solidFill>
                          <a:latin typeface="Calibri" pitchFamily="34" charset="0"/>
                          <a:ea typeface="Calibri" pitchFamily="34" charset="-122"/>
                          <a:cs typeface="Calibri" pitchFamily="34" charset="-120"/>
                        </a:rPr>
                        <a:t>6</a:t>
                      </a:r>
                    </a:p>
                  </a:txBody>
                  <a:tcPr marL="135467" marR="135467" marT="90311" marB="90311">
                    <a:lnL w="6350" cap="flat" cmpd="sng" algn="ctr">
                      <a:solidFill>
                        <a:srgbClr val="028090"/>
                      </a:solidFill>
                      <a:prstDash val="solid"/>
                      <a:round/>
                      <a:headEnd type="none" w="med" len="med"/>
                      <a:tailEnd type="none" w="med" len="med"/>
                    </a:lnL>
                    <a:lnR w="6350" cap="flat" cmpd="sng" algn="ctr">
                      <a:solidFill>
                        <a:srgbClr val="028090"/>
                      </a:solidFill>
                      <a:prstDash val="solid"/>
                      <a:round/>
                      <a:headEnd type="none" w="med" len="med"/>
                      <a:tailEnd type="none" w="med" len="med"/>
                    </a:lnR>
                    <a:lnT w="6350" cap="flat" cmpd="sng" algn="ctr">
                      <a:solidFill>
                        <a:srgbClr val="028090"/>
                      </a:solidFill>
                      <a:prstDash val="solid"/>
                      <a:round/>
                      <a:headEnd type="none" w="med" len="med"/>
                      <a:tailEnd type="none" w="med" len="med"/>
                    </a:lnT>
                    <a:lnB w="6350" cap="flat" cmpd="sng" algn="ctr">
                      <a:solidFill>
                        <a:srgbClr val="028090"/>
                      </a:solidFill>
                      <a:prstDash val="solid"/>
                      <a:round/>
                      <a:headEnd type="none" w="med" len="med"/>
                      <a:tailEnd type="none" w="med" len="med"/>
                    </a:lnB>
                  </a:tcPr>
                </a:tc>
                <a:tc>
                  <a:txBody>
                    <a:bodyPr/>
                    <a:lstStyle/>
                    <a:p>
                      <a:pPr marL="0" indent="0" algn="l" defTabSz="914400" rtl="0" eaLnBrk="1" latinLnBrk="0" hangingPunct="1">
                        <a:buNone/>
                      </a:pPr>
                      <a:r>
                        <a:rPr lang="en-US" sz="2000" b="1" kern="1200" dirty="0">
                          <a:solidFill>
                            <a:srgbClr val="102848"/>
                          </a:solidFill>
                          <a:latin typeface="Calibri" pitchFamily="34" charset="0"/>
                          <a:ea typeface="Calibri" pitchFamily="34" charset="-122"/>
                          <a:cs typeface="Calibri" pitchFamily="34" charset="-120"/>
                        </a:rPr>
                        <a:t>Amoxicillin 500mg</a:t>
                      </a:r>
                    </a:p>
                  </a:txBody>
                  <a:tcPr marL="135467" marR="135467" marT="90311" marB="90311">
                    <a:lnL w="6350" cap="flat" cmpd="sng" algn="ctr">
                      <a:solidFill>
                        <a:srgbClr val="028090"/>
                      </a:solidFill>
                      <a:prstDash val="solid"/>
                      <a:round/>
                      <a:headEnd type="none" w="med" len="med"/>
                      <a:tailEnd type="none" w="med" len="med"/>
                    </a:lnL>
                    <a:lnR w="6350" cap="flat" cmpd="sng" algn="ctr">
                      <a:solidFill>
                        <a:srgbClr val="028090"/>
                      </a:solidFill>
                      <a:prstDash val="solid"/>
                      <a:round/>
                      <a:headEnd type="none" w="med" len="med"/>
                      <a:tailEnd type="none" w="med" len="med"/>
                    </a:lnR>
                    <a:lnT w="6350" cap="flat" cmpd="sng" algn="ctr">
                      <a:solidFill>
                        <a:srgbClr val="028090"/>
                      </a:solidFill>
                      <a:prstDash val="solid"/>
                      <a:round/>
                      <a:headEnd type="none" w="med" len="med"/>
                      <a:tailEnd type="none" w="med" len="med"/>
                    </a:lnT>
                    <a:lnB w="6350" cap="flat" cmpd="sng" algn="ctr">
                      <a:solidFill>
                        <a:srgbClr val="028090"/>
                      </a:solidFill>
                      <a:prstDash val="solid"/>
                      <a:round/>
                      <a:headEnd type="none" w="med" len="med"/>
                      <a:tailEnd type="none" w="med" len="med"/>
                    </a:lnB>
                  </a:tcPr>
                </a:tc>
                <a:tc>
                  <a:txBody>
                    <a:bodyPr/>
                    <a:lstStyle/>
                    <a:p>
                      <a:pPr marL="0" indent="0" algn="l" defTabSz="914400" rtl="0" eaLnBrk="1" latinLnBrk="0" hangingPunct="1">
                        <a:buNone/>
                      </a:pPr>
                      <a:r>
                        <a:rPr lang="en-US" sz="2000" b="1" kern="1200" dirty="0">
                          <a:solidFill>
                            <a:srgbClr val="102848"/>
                          </a:solidFill>
                          <a:latin typeface="Calibri" pitchFamily="34" charset="0"/>
                          <a:ea typeface="Calibri" pitchFamily="34" charset="-122"/>
                          <a:cs typeface="Calibri" pitchFamily="34" charset="-120"/>
                        </a:rPr>
                        <a:t>CVS Sunnyvale</a:t>
                      </a:r>
                    </a:p>
                  </a:txBody>
                  <a:tcPr marL="135467" marR="135467" marT="90311" marB="90311">
                    <a:lnL w="6350" cap="flat" cmpd="sng" algn="ctr">
                      <a:solidFill>
                        <a:srgbClr val="028090"/>
                      </a:solidFill>
                      <a:prstDash val="solid"/>
                      <a:round/>
                      <a:headEnd type="none" w="med" len="med"/>
                      <a:tailEnd type="none" w="med" len="med"/>
                    </a:lnL>
                    <a:lnR w="6350" cap="flat" cmpd="sng" algn="ctr">
                      <a:solidFill>
                        <a:srgbClr val="028090"/>
                      </a:solidFill>
                      <a:prstDash val="solid"/>
                      <a:round/>
                      <a:headEnd type="none" w="med" len="med"/>
                      <a:tailEnd type="none" w="med" len="med"/>
                    </a:lnR>
                    <a:lnT w="6350" cap="flat" cmpd="sng" algn="ctr">
                      <a:solidFill>
                        <a:srgbClr val="028090"/>
                      </a:solidFill>
                      <a:prstDash val="solid"/>
                      <a:round/>
                      <a:headEnd type="none" w="med" len="med"/>
                      <a:tailEnd type="none" w="med" len="med"/>
                    </a:lnT>
                    <a:lnB w="6350" cap="flat" cmpd="sng" algn="ctr">
                      <a:solidFill>
                        <a:srgbClr val="028090"/>
                      </a:solidFill>
                      <a:prstDash val="solid"/>
                      <a:round/>
                      <a:headEnd type="none" w="med" len="med"/>
                      <a:tailEnd type="none" w="med" len="med"/>
                    </a:lnB>
                  </a:tcPr>
                </a:tc>
                <a:tc>
                  <a:txBody>
                    <a:bodyPr/>
                    <a:lstStyle/>
                    <a:p>
                      <a:pPr marL="0" indent="0">
                        <a:buNone/>
                      </a:pPr>
                      <a:r>
                        <a:rPr lang="en-US" sz="2000" b="1" dirty="0">
                          <a:solidFill>
                            <a:srgbClr val="059669"/>
                          </a:solidFill>
                          <a:latin typeface="Calibri" pitchFamily="34" charset="0"/>
                          <a:ea typeface="Calibri" pitchFamily="34" charset="-122"/>
                          <a:cs typeface="Calibri" pitchFamily="34" charset="-120"/>
                        </a:rPr>
                        <a:t>Transfer: 50 units</a:t>
                      </a:r>
                      <a:endParaRPr lang="en-US" sz="2000" dirty="0">
                        <a:latin typeface="Calibri" charset="0"/>
                        <a:ea typeface="Calibri" charset="0"/>
                        <a:cs typeface="Calibri" charset="0"/>
                      </a:endParaRPr>
                    </a:p>
                  </a:txBody>
                  <a:tcPr marL="135467" marR="135467" marT="90311" marB="90311">
                    <a:lnL w="6350" cap="flat" cmpd="sng" algn="ctr">
                      <a:solidFill>
                        <a:srgbClr val="028090"/>
                      </a:solidFill>
                      <a:prstDash val="solid"/>
                      <a:round/>
                      <a:headEnd type="none" w="med" len="med"/>
                      <a:tailEnd type="none" w="med" len="med"/>
                    </a:lnL>
                    <a:lnR w="6350" cap="flat" cmpd="sng" algn="ctr">
                      <a:solidFill>
                        <a:srgbClr val="028090"/>
                      </a:solidFill>
                      <a:prstDash val="solid"/>
                      <a:round/>
                      <a:headEnd type="none" w="med" len="med"/>
                      <a:tailEnd type="none" w="med" len="med"/>
                    </a:lnR>
                    <a:lnT w="6350" cap="flat" cmpd="sng" algn="ctr">
                      <a:solidFill>
                        <a:srgbClr val="028090"/>
                      </a:solidFill>
                      <a:prstDash val="solid"/>
                      <a:round/>
                      <a:headEnd type="none" w="med" len="med"/>
                      <a:tailEnd type="none" w="med" len="med"/>
                    </a:lnT>
                    <a:lnB w="6350" cap="flat" cmpd="sng" algn="ctr">
                      <a:solidFill>
                        <a:srgbClr val="028090"/>
                      </a:solidFill>
                      <a:prstDash val="solid"/>
                      <a:round/>
                      <a:headEnd type="none" w="med" len="med"/>
                      <a:tailEnd type="none" w="med" len="med"/>
                    </a:lnB>
                  </a:tcPr>
                </a:tc>
                <a:tc>
                  <a:txBody>
                    <a:bodyPr/>
                    <a:lstStyle/>
                    <a:p>
                      <a:pPr marL="0" indent="0" algn="l" defTabSz="914400" rtl="0" eaLnBrk="1" latinLnBrk="0" hangingPunct="1">
                        <a:buNone/>
                      </a:pPr>
                      <a:r>
                        <a:rPr lang="en-US" sz="2000" b="1" kern="1200" dirty="0">
                          <a:solidFill>
                            <a:srgbClr val="102848"/>
                          </a:solidFill>
                          <a:latin typeface="Calibri" pitchFamily="34" charset="0"/>
                          <a:ea typeface="Calibri" pitchFamily="34" charset="-122"/>
                          <a:cs typeface="Calibri" pitchFamily="34" charset="-120"/>
                        </a:rPr>
                        <a:t>CVS Downtown SF</a:t>
                      </a:r>
                    </a:p>
                  </a:txBody>
                  <a:tcPr marL="135467" marR="135467" marT="90311" marB="90311">
                    <a:lnL w="6350" cap="flat" cmpd="sng" algn="ctr">
                      <a:solidFill>
                        <a:srgbClr val="028090"/>
                      </a:solidFill>
                      <a:prstDash val="solid"/>
                      <a:round/>
                      <a:headEnd type="none" w="med" len="med"/>
                      <a:tailEnd type="none" w="med" len="med"/>
                    </a:lnL>
                    <a:lnR w="6350" cap="flat" cmpd="sng" algn="ctr">
                      <a:solidFill>
                        <a:srgbClr val="028090"/>
                      </a:solidFill>
                      <a:prstDash val="solid"/>
                      <a:round/>
                      <a:headEnd type="none" w="med" len="med"/>
                      <a:tailEnd type="none" w="med" len="med"/>
                    </a:lnR>
                    <a:lnT w="6350" cap="flat" cmpd="sng" algn="ctr">
                      <a:solidFill>
                        <a:srgbClr val="028090"/>
                      </a:solidFill>
                      <a:prstDash val="solid"/>
                      <a:round/>
                      <a:headEnd type="none" w="med" len="med"/>
                      <a:tailEnd type="none" w="med" len="med"/>
                    </a:lnT>
                    <a:lnB w="6350" cap="flat" cmpd="sng" algn="ctr">
                      <a:solidFill>
                        <a:srgbClr val="02809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4" name="Text 1"/>
          <p:cNvSpPr/>
          <p:nvPr/>
        </p:nvSpPr>
        <p:spPr>
          <a:xfrm>
            <a:off x="1300480" y="6827520"/>
            <a:ext cx="13655040" cy="650240"/>
          </a:xfrm>
          <a:prstGeom prst="rect">
            <a:avLst/>
          </a:prstGeom>
          <a:noFill/>
          <a:ln/>
        </p:spPr>
        <p:txBody>
          <a:bodyPr wrap="square" lIns="0" tIns="0" rIns="0" bIns="0" rtlCol="0" anchor="ctr"/>
          <a:lstStyle/>
          <a:p>
            <a:r>
              <a:rPr lang="en-US" sz="2311" dirty="0">
                <a:solidFill>
                  <a:srgbClr val="02C39A"/>
                </a:solidFill>
                <a:latin typeface="Calibri" pitchFamily="34" charset="0"/>
                <a:ea typeface="Calibri" pitchFamily="34" charset="-122"/>
                <a:cs typeface="Calibri" pitchFamily="34" charset="-120"/>
              </a:rPr>
              <a:t>4 successful transfers  |  1 compliance block  |  1 distributor fallback</a:t>
            </a:r>
            <a:endParaRPr lang="en-US" sz="231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0" name="Background Grid"/>
          <p:cNvPicPr>
            <a:picLocks noChangeAspect="1"/>
          </p:cNvPicPr>
          <p:nvPr/>
        </p:nvPicPr>
        <p:blipFill>
          <a:blip r:embed="rId3"/>
          <a:stretch>
            <a:fillRect/>
          </a:stretch>
        </p:blipFill>
        <p:spPr>
          <a:xfrm>
            <a:off x="0" y="0"/>
            <a:ext cx="16256000" cy="9144000"/>
          </a:xfrm>
          <a:prstGeom prst="rect">
            <a:avLst/>
          </a:prstGeom>
        </p:spPr>
      </p:pic>
      <p:sp>
        <p:nvSpPr>
          <p:cNvPr id="2" name="Shape 0"/>
          <p:cNvSpPr/>
          <p:nvPr/>
        </p:nvSpPr>
        <p:spPr>
          <a:xfrm>
            <a:off x="812800" y="487680"/>
            <a:ext cx="2438400" cy="650240"/>
          </a:xfrm>
          <a:prstGeom prst="roundRect">
            <a:avLst>
              <a:gd name="adj" fmla="val 12500"/>
            </a:avLst>
          </a:prstGeom>
          <a:solidFill>
            <a:srgbClr val="059669"/>
          </a:solidFill>
          <a:ln/>
        </p:spPr>
        <p:txBody>
          <a:bodyPr/>
          <a:lstStyle/>
          <a:p>
            <a:endParaRPr lang="en-US" sz="3200"/>
          </a:p>
        </p:txBody>
      </p:sp>
      <p:sp>
        <p:nvSpPr>
          <p:cNvPr id="3" name="Text 1"/>
          <p:cNvSpPr/>
          <p:nvPr/>
        </p:nvSpPr>
        <p:spPr>
          <a:xfrm>
            <a:off x="812800" y="487680"/>
            <a:ext cx="2438400" cy="650240"/>
          </a:xfrm>
          <a:prstGeom prst="rect">
            <a:avLst/>
          </a:prstGeom>
          <a:noFill/>
          <a:ln/>
        </p:spPr>
        <p:txBody>
          <a:bodyPr wrap="square" lIns="0" tIns="0" rIns="0" bIns="0" rtlCol="0" anchor="ctr"/>
          <a:lstStyle/>
          <a:p>
            <a:pPr algn="ctr"/>
            <a:r>
              <a:rPr lang="en-US" sz="2133" b="1" dirty="0">
                <a:solidFill>
                  <a:srgbClr val="FFFFFF"/>
                </a:solidFill>
                <a:latin typeface="Calibri" pitchFamily="34" charset="0"/>
                <a:ea typeface="Calibri" pitchFamily="34" charset="-122"/>
                <a:cs typeface="Calibri" pitchFamily="34" charset="-120"/>
              </a:rPr>
              <a:t>Scenario 1</a:t>
            </a:r>
            <a:endParaRPr lang="en-US" sz="2133" dirty="0"/>
          </a:p>
        </p:txBody>
      </p:sp>
      <p:pic>
        <p:nvPicPr>
          <p:cNvPr id="4" name="Image 0" descr="preencoded.png"/>
          <p:cNvPicPr>
            <a:picLocks noChangeAspect="1"/>
          </p:cNvPicPr>
          <p:nvPr/>
        </p:nvPicPr>
        <p:blipFill>
          <a:blip r:embed="rId4"/>
          <a:stretch>
            <a:fillRect/>
          </a:stretch>
        </p:blipFill>
        <p:spPr>
          <a:xfrm>
            <a:off x="14630400" y="406400"/>
            <a:ext cx="731520" cy="731520"/>
          </a:xfrm>
          <a:prstGeom prst="rect">
            <a:avLst/>
          </a:prstGeom>
        </p:spPr>
      </p:pic>
      <p:sp>
        <p:nvSpPr>
          <p:cNvPr id="5" name="Text 2"/>
          <p:cNvSpPr/>
          <p:nvPr/>
        </p:nvSpPr>
        <p:spPr>
          <a:xfrm>
            <a:off x="812800" y="1300480"/>
            <a:ext cx="14630400" cy="812800"/>
          </a:xfrm>
          <a:prstGeom prst="rect">
            <a:avLst/>
          </a:prstGeom>
          <a:noFill/>
          <a:ln/>
        </p:spPr>
        <p:txBody>
          <a:bodyPr wrap="square" lIns="0" tIns="0" rIns="0" bIns="0" rtlCol="0" anchor="ctr"/>
          <a:lstStyle/>
          <a:p>
            <a:r>
              <a:rPr lang="en-US" sz="3911" b="1" dirty="0">
                <a:solidFill>
                  <a:srgbClr val="1A1A2E"/>
                </a:solidFill>
                <a:latin typeface="Calibri" pitchFamily="34" charset="0"/>
                <a:ea typeface="Calibri" pitchFamily="34" charset="-122"/>
                <a:cs typeface="Calibri" pitchFamily="34" charset="-120"/>
              </a:rPr>
              <a:t>Mounjaro 5mg — Happy Path Cold-Chain Transfer</a:t>
            </a:r>
            <a:endParaRPr lang="en-US" sz="3911" dirty="0"/>
          </a:p>
        </p:txBody>
      </p:sp>
      <p:sp>
        <p:nvSpPr>
          <p:cNvPr id="6" name="Text 3"/>
          <p:cNvSpPr/>
          <p:nvPr/>
        </p:nvSpPr>
        <p:spPr>
          <a:xfrm>
            <a:off x="812800" y="2113280"/>
            <a:ext cx="14630400" cy="487680"/>
          </a:xfrm>
          <a:prstGeom prst="rect">
            <a:avLst/>
          </a:prstGeom>
          <a:noFill/>
          <a:ln/>
        </p:spPr>
        <p:txBody>
          <a:bodyPr wrap="square" lIns="0" tIns="0" rIns="0" bIns="0" rtlCol="0" anchor="ctr"/>
          <a:lstStyle/>
          <a:p>
            <a:r>
              <a:rPr lang="en-US" sz="1956" dirty="0">
                <a:solidFill>
                  <a:srgbClr val="5A6C7D"/>
                </a:solidFill>
                <a:latin typeface="Calibri" pitchFamily="34" charset="0"/>
                <a:ea typeface="Calibri" pitchFamily="34" charset="-122"/>
                <a:cs typeface="Calibri" pitchFamily="34" charset="-120"/>
              </a:rPr>
              <a:t>Target: CVS Downtown SF  |  Qty: 0  |  Safety Stock: 50  |  Need: 50 units  |  Cold chain required: YES</a:t>
            </a:r>
            <a:endParaRPr lang="en-US" sz="1956" dirty="0"/>
          </a:p>
        </p:txBody>
      </p:sp>
      <p:graphicFrame>
        <p:nvGraphicFramePr>
          <p:cNvPr id="7" name="Table 0"/>
          <p:cNvGraphicFramePr>
            <a:graphicFrameLocks noGrp="1"/>
          </p:cNvGraphicFramePr>
          <p:nvPr/>
        </p:nvGraphicFramePr>
        <p:xfrm>
          <a:off x="812800" y="2844800"/>
          <a:ext cx="12517120" cy="3121152"/>
        </p:xfrm>
        <a:graphic>
          <a:graphicData uri="http://schemas.openxmlformats.org/drawingml/2006/table">
            <a:tbl>
              <a:tblPr/>
              <a:tblGrid>
                <a:gridCol w="29260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788160">
                  <a:extLst>
                    <a:ext uri="{9D8B030D-6E8A-4147-A177-3AD203B41FA5}">
                      <a16:colId xmlns:a16="http://schemas.microsoft.com/office/drawing/2014/main" val="20002"/>
                    </a:ext>
                  </a:extLst>
                </a:gridCol>
                <a:gridCol w="2600960">
                  <a:extLst>
                    <a:ext uri="{9D8B030D-6E8A-4147-A177-3AD203B41FA5}">
                      <a16:colId xmlns:a16="http://schemas.microsoft.com/office/drawing/2014/main" val="20003"/>
                    </a:ext>
                  </a:extLst>
                </a:gridCol>
                <a:gridCol w="1788160">
                  <a:extLst>
                    <a:ext uri="{9D8B030D-6E8A-4147-A177-3AD203B41FA5}">
                      <a16:colId xmlns:a16="http://schemas.microsoft.com/office/drawing/2014/main" val="20004"/>
                    </a:ext>
                  </a:extLst>
                </a:gridCol>
                <a:gridCol w="1950720">
                  <a:extLst>
                    <a:ext uri="{9D8B030D-6E8A-4147-A177-3AD203B41FA5}">
                      <a16:colId xmlns:a16="http://schemas.microsoft.com/office/drawing/2014/main" val="20005"/>
                    </a:ext>
                  </a:extLst>
                </a:gridCol>
              </a:tblGrid>
              <a:tr h="520192">
                <a:tc>
                  <a:txBody>
                    <a:bodyPr/>
                    <a:lstStyle/>
                    <a:p>
                      <a:pPr marL="0" indent="0">
                        <a:buNone/>
                      </a:pPr>
                      <a:r>
                        <a:rPr lang="en-US" sz="1800" b="1" dirty="0">
                          <a:solidFill>
                            <a:srgbClr val="6B7280"/>
                          </a:solidFill>
                          <a:latin typeface="Calibri" pitchFamily="34" charset="0"/>
                          <a:ea typeface="Calibri" pitchFamily="34" charset="-122"/>
                          <a:cs typeface="Calibri" pitchFamily="34" charset="-120"/>
                        </a:rPr>
                        <a:t>Store</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7FAFA"/>
                    </a:solidFill>
                  </a:tcPr>
                </a:tc>
                <a:tc>
                  <a:txBody>
                    <a:bodyPr/>
                    <a:lstStyle/>
                    <a:p>
                      <a:pPr marL="0" indent="0">
                        <a:buNone/>
                      </a:pPr>
                      <a:r>
                        <a:rPr lang="en-US" sz="1800" b="1" dirty="0">
                          <a:solidFill>
                            <a:srgbClr val="6B7280"/>
                          </a:solidFill>
                          <a:latin typeface="Calibri" pitchFamily="34" charset="0"/>
                          <a:ea typeface="Calibri" pitchFamily="34" charset="-122"/>
                          <a:cs typeface="Calibri" pitchFamily="34" charset="-120"/>
                        </a:rPr>
                        <a:t>Stock</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7FAFA"/>
                    </a:solidFill>
                  </a:tcPr>
                </a:tc>
                <a:tc>
                  <a:txBody>
                    <a:bodyPr/>
                    <a:lstStyle/>
                    <a:p>
                      <a:pPr marL="0" indent="0">
                        <a:buNone/>
                      </a:pPr>
                      <a:r>
                        <a:rPr lang="en-US" sz="1800" b="1" dirty="0">
                          <a:solidFill>
                            <a:srgbClr val="6B7280"/>
                          </a:solidFill>
                          <a:latin typeface="Calibri" pitchFamily="34" charset="0"/>
                          <a:ea typeface="Calibri" pitchFamily="34" charset="-122"/>
                          <a:cs typeface="Calibri" pitchFamily="34" charset="-120"/>
                        </a:rPr>
                        <a:t>Cold Chain</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7FAFA"/>
                    </a:solidFill>
                  </a:tcPr>
                </a:tc>
                <a:tc>
                  <a:txBody>
                    <a:bodyPr/>
                    <a:lstStyle/>
                    <a:p>
                      <a:pPr marL="0" indent="0">
                        <a:buNone/>
                      </a:pPr>
                      <a:r>
                        <a:rPr lang="en-US" sz="1800" b="1" dirty="0">
                          <a:solidFill>
                            <a:srgbClr val="6B7280"/>
                          </a:solidFill>
                          <a:latin typeface="Calibri" pitchFamily="34" charset="0"/>
                          <a:ea typeface="Calibri" pitchFamily="34" charset="-122"/>
                          <a:cs typeface="Calibri" pitchFamily="34" charset="-120"/>
                        </a:rPr>
                        <a:t>DEA Reg</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7FAFA"/>
                    </a:solidFill>
                  </a:tcPr>
                </a:tc>
                <a:tc>
                  <a:txBody>
                    <a:bodyPr/>
                    <a:lstStyle/>
                    <a:p>
                      <a:pPr marL="0" indent="0">
                        <a:buNone/>
                      </a:pPr>
                      <a:r>
                        <a:rPr lang="en-US" sz="1800" b="1" dirty="0">
                          <a:solidFill>
                            <a:srgbClr val="6B7280"/>
                          </a:solidFill>
                          <a:latin typeface="Calibri" pitchFamily="34" charset="0"/>
                          <a:ea typeface="Calibri" pitchFamily="34" charset="-122"/>
                          <a:cs typeface="Calibri" pitchFamily="34" charset="-120"/>
                        </a:rPr>
                        <a:t>Expiry</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7FAFA"/>
                    </a:solidFill>
                  </a:tcPr>
                </a:tc>
                <a:tc>
                  <a:txBody>
                    <a:bodyPr/>
                    <a:lstStyle/>
                    <a:p>
                      <a:pPr marL="0" indent="0">
                        <a:buNone/>
                      </a:pPr>
                      <a:r>
                        <a:rPr lang="en-US" sz="1800" b="1" dirty="0">
                          <a:solidFill>
                            <a:srgbClr val="6B7280"/>
                          </a:solidFill>
                          <a:latin typeface="Calibri" pitchFamily="34" charset="0"/>
                          <a:ea typeface="Calibri" pitchFamily="34" charset="-122"/>
                          <a:cs typeface="Calibri" pitchFamily="34" charset="-120"/>
                        </a:rPr>
                        <a:t>Result</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7FAFA"/>
                    </a:solidFill>
                  </a:tcPr>
                </a:tc>
                <a:extLst>
                  <a:ext uri="{0D108BD9-81ED-4DB2-BD59-A6C34878D82A}">
                    <a16:rowId xmlns:a16="http://schemas.microsoft.com/office/drawing/2014/main" val="10000"/>
                  </a:ext>
                </a:extLst>
              </a:tr>
              <a:tr h="520192">
                <a:tc>
                  <a:txBody>
                    <a:bodyPr/>
                    <a:lstStyle/>
                    <a:p>
                      <a:pPr marL="0" indent="0">
                        <a:buNone/>
                      </a:pPr>
                      <a:r>
                        <a:rPr lang="en-US" sz="1800" b="1" dirty="0">
                          <a:solidFill>
                            <a:srgbClr val="1A1A2E"/>
                          </a:solidFill>
                          <a:latin typeface="Calibri" pitchFamily="34" charset="0"/>
                          <a:ea typeface="Calibri" pitchFamily="34" charset="-122"/>
                          <a:cs typeface="Calibri" pitchFamily="34" charset="-120"/>
                        </a:rPr>
                        <a:t>CVS Westside SF</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D1D5DB"/>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b="1" dirty="0">
                          <a:solidFill>
                            <a:srgbClr val="1A1A2E"/>
                          </a:solidFill>
                          <a:latin typeface="Calibri" pitchFamily="34" charset="0"/>
                          <a:ea typeface="Calibri" pitchFamily="34" charset="-122"/>
                          <a:cs typeface="Calibri" pitchFamily="34" charset="-120"/>
                        </a:rPr>
                        <a:t>200 units</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D1D5DB"/>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b="1" dirty="0">
                          <a:solidFill>
                            <a:srgbClr val="059669"/>
                          </a:solidFill>
                          <a:latin typeface="Calibri" pitchFamily="34" charset="0"/>
                          <a:ea typeface="Calibri" pitchFamily="34" charset="-122"/>
                          <a:cs typeface="Calibri" pitchFamily="34" charset="-120"/>
                        </a:rPr>
                        <a:t>capable</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D1D5DB"/>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b="1" dirty="0">
                          <a:solidFill>
                            <a:srgbClr val="059669"/>
                          </a:solidFill>
                          <a:latin typeface="Calibri" pitchFamily="34" charset="0"/>
                          <a:ea typeface="Calibri" pitchFamily="34" charset="-122"/>
                          <a:cs typeface="Calibri" pitchFamily="34" charset="-120"/>
                        </a:rPr>
                        <a:t>DEA-SF-WS-002</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D1D5DB"/>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b="1" dirty="0">
                          <a:solidFill>
                            <a:srgbClr val="059669"/>
                          </a:solidFill>
                          <a:latin typeface="Calibri" pitchFamily="34" charset="0"/>
                          <a:ea typeface="Calibri" pitchFamily="34" charset="-122"/>
                          <a:cs typeface="Calibri" pitchFamily="34" charset="-120"/>
                        </a:rPr>
                        <a:t>90 days</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D1D5DB"/>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b="1" dirty="0">
                          <a:solidFill>
                            <a:srgbClr val="1E40AF"/>
                          </a:solidFill>
                          <a:latin typeface="Calibri" pitchFamily="34" charset="0"/>
                          <a:ea typeface="Calibri" pitchFamily="34" charset="-122"/>
                          <a:cs typeface="Calibri" pitchFamily="34" charset="-120"/>
                        </a:rPr>
                        <a:t>SELECTED</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D1D5DB"/>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extLst>
                  <a:ext uri="{0D108BD9-81ED-4DB2-BD59-A6C34878D82A}">
                    <a16:rowId xmlns:a16="http://schemas.microsoft.com/office/drawing/2014/main" val="10001"/>
                  </a:ext>
                </a:extLst>
              </a:tr>
              <a:tr h="520192">
                <a:tc>
                  <a:txBody>
                    <a:bodyPr/>
                    <a:lstStyle/>
                    <a:p>
                      <a:pPr marL="0" indent="0">
                        <a:buNone/>
                      </a:pPr>
                      <a:r>
                        <a:rPr lang="en-US" sz="1800" b="1" dirty="0">
                          <a:solidFill>
                            <a:srgbClr val="1A1A2E"/>
                          </a:solidFill>
                          <a:latin typeface="Calibri" pitchFamily="34" charset="0"/>
                          <a:ea typeface="Calibri" pitchFamily="34" charset="-122"/>
                          <a:cs typeface="Calibri" pitchFamily="34" charset="-120"/>
                        </a:rPr>
                        <a:t>CVS Eastside Oakland</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dirty="0">
                          <a:solidFill>
                            <a:srgbClr val="1A1A2E"/>
                          </a:solidFill>
                          <a:latin typeface="Calibri" pitchFamily="34" charset="0"/>
                          <a:ea typeface="Calibri" pitchFamily="34" charset="-122"/>
                          <a:cs typeface="Calibri" pitchFamily="34" charset="-120"/>
                        </a:rPr>
                        <a:t>150 units</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b="1" dirty="0">
                          <a:solidFill>
                            <a:srgbClr val="DC2626"/>
                          </a:solidFill>
                          <a:latin typeface="Calibri" pitchFamily="34" charset="0"/>
                          <a:ea typeface="Calibri" pitchFamily="34" charset="-122"/>
                          <a:cs typeface="Calibri" pitchFamily="34" charset="-120"/>
                        </a:rPr>
                        <a:t>not capable</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b="1" dirty="0">
                          <a:solidFill>
                            <a:srgbClr val="059669"/>
                          </a:solidFill>
                          <a:latin typeface="Calibri" pitchFamily="34" charset="0"/>
                          <a:ea typeface="Calibri" pitchFamily="34" charset="-122"/>
                          <a:cs typeface="Calibri" pitchFamily="34" charset="-120"/>
                        </a:rPr>
                        <a:t>DEA-OAK-ES-003</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b="1" dirty="0">
                          <a:solidFill>
                            <a:srgbClr val="059669"/>
                          </a:solidFill>
                          <a:latin typeface="Calibri" pitchFamily="34" charset="0"/>
                          <a:ea typeface="Calibri" pitchFamily="34" charset="-122"/>
                          <a:cs typeface="Calibri" pitchFamily="34" charset="-120"/>
                        </a:rPr>
                        <a:t>60 days</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b="1" dirty="0">
                          <a:solidFill>
                            <a:srgbClr val="DC2626"/>
                          </a:solidFill>
                          <a:latin typeface="Calibri" pitchFamily="34" charset="0"/>
                          <a:ea typeface="Calibri" pitchFamily="34" charset="-122"/>
                          <a:cs typeface="Calibri" pitchFamily="34" charset="-120"/>
                        </a:rPr>
                        <a:t>EXCLUDED</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extLst>
                  <a:ext uri="{0D108BD9-81ED-4DB2-BD59-A6C34878D82A}">
                    <a16:rowId xmlns:a16="http://schemas.microsoft.com/office/drawing/2014/main" val="10002"/>
                  </a:ext>
                </a:extLst>
              </a:tr>
              <a:tr h="520192">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CVS San Jose Central</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no position</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b="1" dirty="0">
                          <a:solidFill>
                            <a:srgbClr val="059669"/>
                          </a:solidFill>
                          <a:latin typeface="Calibri" pitchFamily="34" charset="0"/>
                          <a:ea typeface="Calibri" pitchFamily="34" charset="-122"/>
                          <a:cs typeface="Calibri" pitchFamily="34" charset="-120"/>
                        </a:rPr>
                        <a:t>capable</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b="1" dirty="0">
                          <a:solidFill>
                            <a:srgbClr val="059669"/>
                          </a:solidFill>
                          <a:latin typeface="Calibri" pitchFamily="34" charset="0"/>
                          <a:ea typeface="Calibri" pitchFamily="34" charset="-122"/>
                          <a:cs typeface="Calibri" pitchFamily="34" charset="-120"/>
                        </a:rPr>
                        <a:t>has reg</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n/a</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no inventory</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extLst>
                  <a:ext uri="{0D108BD9-81ED-4DB2-BD59-A6C34878D82A}">
                    <a16:rowId xmlns:a16="http://schemas.microsoft.com/office/drawing/2014/main" val="10003"/>
                  </a:ext>
                </a:extLst>
              </a:tr>
              <a:tr h="520192">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CVS Sunnyvale</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no position</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b="1" dirty="0">
                          <a:solidFill>
                            <a:srgbClr val="059669"/>
                          </a:solidFill>
                          <a:latin typeface="Calibri" pitchFamily="34" charset="0"/>
                          <a:ea typeface="Calibri" pitchFamily="34" charset="-122"/>
                          <a:cs typeface="Calibri" pitchFamily="34" charset="-120"/>
                        </a:rPr>
                        <a:t>capable</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b="1" dirty="0">
                          <a:solidFill>
                            <a:srgbClr val="DC2626"/>
                          </a:solidFill>
                          <a:latin typeface="Calibri" pitchFamily="34" charset="0"/>
                          <a:ea typeface="Calibri" pitchFamily="34" charset="-122"/>
                          <a:cs typeface="Calibri" pitchFamily="34" charset="-120"/>
                        </a:rPr>
                        <a:t>blank</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n/a</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no inventory</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extLst>
                  <a:ext uri="{0D108BD9-81ED-4DB2-BD59-A6C34878D82A}">
                    <a16:rowId xmlns:a16="http://schemas.microsoft.com/office/drawing/2014/main" val="10004"/>
                  </a:ext>
                </a:extLst>
              </a:tr>
              <a:tr h="520192">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CVS Palo Alto</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no position</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b="1" dirty="0">
                          <a:solidFill>
                            <a:srgbClr val="059669"/>
                          </a:solidFill>
                          <a:latin typeface="Calibri" pitchFamily="34" charset="0"/>
                          <a:ea typeface="Calibri" pitchFamily="34" charset="-122"/>
                          <a:cs typeface="Calibri" pitchFamily="34" charset="-120"/>
                        </a:rPr>
                        <a:t>capable</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b="1" dirty="0">
                          <a:solidFill>
                            <a:srgbClr val="059669"/>
                          </a:solidFill>
                          <a:latin typeface="Calibri" pitchFamily="34" charset="0"/>
                          <a:ea typeface="Calibri" pitchFamily="34" charset="-122"/>
                          <a:cs typeface="Calibri" pitchFamily="34" charset="-120"/>
                        </a:rPr>
                        <a:t>has reg</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n/a</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b="1" dirty="0">
                          <a:solidFill>
                            <a:srgbClr val="DC2626"/>
                          </a:solidFill>
                          <a:latin typeface="Calibri" pitchFamily="34" charset="0"/>
                          <a:ea typeface="Calibri" pitchFamily="34" charset="-122"/>
                          <a:cs typeface="Calibri" pitchFamily="34" charset="-120"/>
                        </a:rPr>
                        <a:t>inactive</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Shape 4"/>
          <p:cNvSpPr/>
          <p:nvPr/>
        </p:nvSpPr>
        <p:spPr>
          <a:xfrm>
            <a:off x="812800" y="6209792"/>
            <a:ext cx="14630400" cy="1381760"/>
          </a:xfrm>
          <a:prstGeom prst="roundRect">
            <a:avLst>
              <a:gd name="adj" fmla="val 9412"/>
            </a:avLst>
          </a:prstGeom>
          <a:solidFill>
            <a:srgbClr val="DBEAFE"/>
          </a:solidFill>
          <a:ln/>
        </p:spPr>
        <p:txBody>
          <a:bodyPr/>
          <a:lstStyle/>
          <a:p>
            <a:endParaRPr lang="en-US" sz="3200"/>
          </a:p>
        </p:txBody>
      </p:sp>
      <p:sp>
        <p:nvSpPr>
          <p:cNvPr id="9" name="Text 5"/>
          <p:cNvSpPr/>
          <p:nvPr/>
        </p:nvSpPr>
        <p:spPr>
          <a:xfrm>
            <a:off x="1137920" y="6291072"/>
            <a:ext cx="13980160" cy="1219200"/>
          </a:xfrm>
          <a:prstGeom prst="rect">
            <a:avLst/>
          </a:prstGeom>
          <a:noFill/>
          <a:ln/>
        </p:spPr>
        <p:txBody>
          <a:bodyPr wrap="square" lIns="0" tIns="0" rIns="0" bIns="0" rtlCol="0" anchor="t"/>
          <a:lstStyle/>
          <a:p>
            <a:pPr>
              <a:lnSpc>
                <a:spcPct val="130000"/>
              </a:lnSpc>
            </a:pPr>
            <a:r>
              <a:rPr lang="en-US" sz="1778" b="1" dirty="0">
                <a:solidFill>
                  <a:srgbClr val="1E40AF"/>
                </a:solidFill>
                <a:latin typeface="Calibri" pitchFamily="34" charset="0"/>
                <a:ea typeface="Calibri" pitchFamily="34" charset="-122"/>
                <a:cs typeface="Calibri" pitchFamily="34" charset="-120"/>
              </a:rPr>
              <a:t>Why CVS Westside SF wins: </a:t>
            </a:r>
            <a:r>
              <a:rPr lang="en-US" sz="1778" dirty="0">
                <a:solidFill>
                  <a:srgbClr val="1E40AF"/>
                </a:solidFill>
                <a:latin typeface="Calibri" pitchFamily="34" charset="0"/>
                <a:ea typeface="Calibri" pitchFamily="34" charset="-122"/>
                <a:cs typeface="Calibri" pitchFamily="34" charset="-120"/>
              </a:rPr>
              <a:t>Two stores stock Mounjaro. Westside (200 units) is evaluated first (SOQL ORDER BY Quantity DESC) and passes all three checks: cold-chain capable, DEA registered, 90-day expiry. Eastside Oakland (150 units) has stock but Cold_Chain_Capable = false — disqualified because Mounjaro requires cold chain. Transfer qty: MIN(150 x 50%, 50) = 50 units.</a:t>
            </a:r>
            <a:endParaRPr lang="en-US" sz="1778"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0" name="Background Grid"/>
          <p:cNvPicPr>
            <a:picLocks noChangeAspect="1"/>
          </p:cNvPicPr>
          <p:nvPr/>
        </p:nvPicPr>
        <p:blipFill>
          <a:blip r:embed="rId3"/>
          <a:stretch>
            <a:fillRect/>
          </a:stretch>
        </p:blipFill>
        <p:spPr>
          <a:xfrm>
            <a:off x="0" y="0"/>
            <a:ext cx="16256000" cy="9144000"/>
          </a:xfrm>
          <a:prstGeom prst="rect">
            <a:avLst/>
          </a:prstGeom>
        </p:spPr>
      </p:pic>
      <p:sp>
        <p:nvSpPr>
          <p:cNvPr id="2" name="Shape 0"/>
          <p:cNvSpPr/>
          <p:nvPr/>
        </p:nvSpPr>
        <p:spPr>
          <a:xfrm>
            <a:off x="812800" y="487680"/>
            <a:ext cx="2438400" cy="650240"/>
          </a:xfrm>
          <a:prstGeom prst="roundRect">
            <a:avLst>
              <a:gd name="adj" fmla="val 12500"/>
            </a:avLst>
          </a:prstGeom>
          <a:solidFill>
            <a:srgbClr val="991B1B"/>
          </a:solidFill>
          <a:ln/>
        </p:spPr>
        <p:txBody>
          <a:bodyPr/>
          <a:lstStyle/>
          <a:p>
            <a:endParaRPr lang="en-US" sz="3200"/>
          </a:p>
        </p:txBody>
      </p:sp>
      <p:sp>
        <p:nvSpPr>
          <p:cNvPr id="3" name="Text 1"/>
          <p:cNvSpPr/>
          <p:nvPr/>
        </p:nvSpPr>
        <p:spPr>
          <a:xfrm>
            <a:off x="812800" y="487680"/>
            <a:ext cx="2438400" cy="650240"/>
          </a:xfrm>
          <a:prstGeom prst="rect">
            <a:avLst/>
          </a:prstGeom>
          <a:noFill/>
          <a:ln/>
        </p:spPr>
        <p:txBody>
          <a:bodyPr wrap="square" lIns="0" tIns="0" rIns="0" bIns="0" rtlCol="0" anchor="ctr"/>
          <a:lstStyle/>
          <a:p>
            <a:pPr algn="ctr"/>
            <a:r>
              <a:rPr lang="en-US" sz="2133" b="1" dirty="0">
                <a:solidFill>
                  <a:srgbClr val="FFFFFF"/>
                </a:solidFill>
                <a:latin typeface="Calibri" pitchFamily="34" charset="0"/>
                <a:ea typeface="Calibri" pitchFamily="34" charset="-122"/>
                <a:cs typeface="Calibri" pitchFamily="34" charset="-120"/>
              </a:rPr>
              <a:t>Scenario 2</a:t>
            </a:r>
            <a:endParaRPr lang="en-US" sz="2133" dirty="0"/>
          </a:p>
        </p:txBody>
      </p:sp>
      <p:pic>
        <p:nvPicPr>
          <p:cNvPr id="4" name="Image 0" descr="preencoded.png"/>
          <p:cNvPicPr>
            <a:picLocks noChangeAspect="1"/>
          </p:cNvPicPr>
          <p:nvPr/>
        </p:nvPicPr>
        <p:blipFill>
          <a:blip r:embed="rId4"/>
          <a:stretch>
            <a:fillRect/>
          </a:stretch>
        </p:blipFill>
        <p:spPr>
          <a:xfrm>
            <a:off x="14630400" y="406400"/>
            <a:ext cx="731520" cy="731520"/>
          </a:xfrm>
          <a:prstGeom prst="rect">
            <a:avLst/>
          </a:prstGeom>
        </p:spPr>
      </p:pic>
      <p:sp>
        <p:nvSpPr>
          <p:cNvPr id="5" name="Text 2"/>
          <p:cNvSpPr/>
          <p:nvPr/>
        </p:nvSpPr>
        <p:spPr>
          <a:xfrm>
            <a:off x="812800" y="1300480"/>
            <a:ext cx="14630400" cy="812800"/>
          </a:xfrm>
          <a:prstGeom prst="rect">
            <a:avLst/>
          </a:prstGeom>
          <a:noFill/>
          <a:ln/>
        </p:spPr>
        <p:txBody>
          <a:bodyPr wrap="square" lIns="0" tIns="0" rIns="0" bIns="0" rtlCol="0" anchor="ctr"/>
          <a:lstStyle/>
          <a:p>
            <a:r>
              <a:rPr lang="en-US" sz="3911" b="1" dirty="0">
                <a:solidFill>
                  <a:srgbClr val="1A1A2E"/>
                </a:solidFill>
                <a:latin typeface="Calibri" pitchFamily="34" charset="0"/>
                <a:ea typeface="Calibri" pitchFamily="34" charset="-122"/>
                <a:cs typeface="Calibri" pitchFamily="34" charset="-120"/>
              </a:rPr>
              <a:t>Adderall XR 30mg — Schedule II Compliance Hard Stop</a:t>
            </a:r>
            <a:endParaRPr lang="en-US" sz="3911" dirty="0"/>
          </a:p>
        </p:txBody>
      </p:sp>
      <p:sp>
        <p:nvSpPr>
          <p:cNvPr id="6" name="Text 3"/>
          <p:cNvSpPr/>
          <p:nvPr/>
        </p:nvSpPr>
        <p:spPr>
          <a:xfrm>
            <a:off x="812800" y="2113280"/>
            <a:ext cx="14630400" cy="487680"/>
          </a:xfrm>
          <a:prstGeom prst="rect">
            <a:avLst/>
          </a:prstGeom>
          <a:noFill/>
          <a:ln/>
        </p:spPr>
        <p:txBody>
          <a:bodyPr wrap="square" lIns="0" tIns="0" rIns="0" bIns="0" rtlCol="0" anchor="ctr"/>
          <a:lstStyle/>
          <a:p>
            <a:r>
              <a:rPr lang="en-US" sz="1956" dirty="0">
                <a:solidFill>
                  <a:srgbClr val="5A6C7D"/>
                </a:solidFill>
                <a:latin typeface="Calibri" pitchFamily="34" charset="0"/>
                <a:ea typeface="Calibri" pitchFamily="34" charset="-122"/>
                <a:cs typeface="Calibri" pitchFamily="34" charset="-120"/>
              </a:rPr>
              <a:t>Target: CVS Downtown SF  |  Qty: 5  |  Safety Stock: 30  |  Need: 25 units  |  DEA Schedule: II  |  Cold chain: NO</a:t>
            </a:r>
            <a:endParaRPr lang="en-US" sz="1956" dirty="0"/>
          </a:p>
        </p:txBody>
      </p:sp>
      <p:graphicFrame>
        <p:nvGraphicFramePr>
          <p:cNvPr id="7" name="Table 0"/>
          <p:cNvGraphicFramePr>
            <a:graphicFrameLocks noGrp="1"/>
          </p:cNvGraphicFramePr>
          <p:nvPr/>
        </p:nvGraphicFramePr>
        <p:xfrm>
          <a:off x="812800" y="2844800"/>
          <a:ext cx="14630400" cy="3121152"/>
        </p:xfrm>
        <a:graphic>
          <a:graphicData uri="http://schemas.openxmlformats.org/drawingml/2006/table">
            <a:tbl>
              <a:tblPr/>
              <a:tblGrid>
                <a:gridCol w="3251200">
                  <a:extLst>
                    <a:ext uri="{9D8B030D-6E8A-4147-A177-3AD203B41FA5}">
                      <a16:colId xmlns:a16="http://schemas.microsoft.com/office/drawing/2014/main" val="20000"/>
                    </a:ext>
                  </a:extLst>
                </a:gridCol>
                <a:gridCol w="1950720">
                  <a:extLst>
                    <a:ext uri="{9D8B030D-6E8A-4147-A177-3AD203B41FA5}">
                      <a16:colId xmlns:a16="http://schemas.microsoft.com/office/drawing/2014/main" val="20001"/>
                    </a:ext>
                  </a:extLst>
                </a:gridCol>
                <a:gridCol w="6827520">
                  <a:extLst>
                    <a:ext uri="{9D8B030D-6E8A-4147-A177-3AD203B41FA5}">
                      <a16:colId xmlns:a16="http://schemas.microsoft.com/office/drawing/2014/main" val="20002"/>
                    </a:ext>
                  </a:extLst>
                </a:gridCol>
                <a:gridCol w="2600960">
                  <a:extLst>
                    <a:ext uri="{9D8B030D-6E8A-4147-A177-3AD203B41FA5}">
                      <a16:colId xmlns:a16="http://schemas.microsoft.com/office/drawing/2014/main" val="20003"/>
                    </a:ext>
                  </a:extLst>
                </a:gridCol>
              </a:tblGrid>
              <a:tr h="520192">
                <a:tc>
                  <a:txBody>
                    <a:bodyPr/>
                    <a:lstStyle/>
                    <a:p>
                      <a:pPr marL="0" indent="0">
                        <a:buNone/>
                      </a:pPr>
                      <a:r>
                        <a:rPr lang="en-US" sz="1800" b="1" dirty="0">
                          <a:solidFill>
                            <a:srgbClr val="6B7280"/>
                          </a:solidFill>
                          <a:latin typeface="Calibri" pitchFamily="34" charset="0"/>
                          <a:ea typeface="Calibri" pitchFamily="34" charset="-122"/>
                          <a:cs typeface="Calibri" pitchFamily="34" charset="-120"/>
                        </a:rPr>
                        <a:t>Store</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7FAFA"/>
                    </a:solidFill>
                  </a:tcPr>
                </a:tc>
                <a:tc>
                  <a:txBody>
                    <a:bodyPr/>
                    <a:lstStyle/>
                    <a:p>
                      <a:pPr marL="0" indent="0">
                        <a:buNone/>
                      </a:pPr>
                      <a:r>
                        <a:rPr lang="en-US" sz="1800" b="1" dirty="0">
                          <a:solidFill>
                            <a:srgbClr val="6B7280"/>
                          </a:solidFill>
                          <a:latin typeface="Calibri" pitchFamily="34" charset="0"/>
                          <a:ea typeface="Calibri" pitchFamily="34" charset="-122"/>
                          <a:cs typeface="Calibri" pitchFamily="34" charset="-120"/>
                        </a:rPr>
                        <a:t>Stock</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7FAFA"/>
                    </a:solidFill>
                  </a:tcPr>
                </a:tc>
                <a:tc>
                  <a:txBody>
                    <a:bodyPr/>
                    <a:lstStyle/>
                    <a:p>
                      <a:pPr marL="0" indent="0">
                        <a:buNone/>
                      </a:pPr>
                      <a:r>
                        <a:rPr lang="en-US" sz="1800" b="1" dirty="0">
                          <a:solidFill>
                            <a:srgbClr val="6B7280"/>
                          </a:solidFill>
                          <a:latin typeface="Calibri" pitchFamily="34" charset="0"/>
                          <a:ea typeface="Calibri" pitchFamily="34" charset="-122"/>
                          <a:cs typeface="Calibri" pitchFamily="34" charset="-120"/>
                        </a:rPr>
                        <a:t>Evaluation</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7FAFA"/>
                    </a:solidFill>
                  </a:tcPr>
                </a:tc>
                <a:tc>
                  <a:txBody>
                    <a:bodyPr/>
                    <a:lstStyle/>
                    <a:p>
                      <a:pPr marL="0" indent="0">
                        <a:buNone/>
                      </a:pPr>
                      <a:r>
                        <a:rPr lang="en-US" sz="1800" b="1" dirty="0">
                          <a:solidFill>
                            <a:srgbClr val="6B7280"/>
                          </a:solidFill>
                          <a:latin typeface="Calibri" pitchFamily="34" charset="0"/>
                          <a:ea typeface="Calibri" pitchFamily="34" charset="-122"/>
                          <a:cs typeface="Calibri" pitchFamily="34" charset="-120"/>
                        </a:rPr>
                        <a:t>Result</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7FAFA"/>
                    </a:solidFill>
                  </a:tcPr>
                </a:tc>
                <a:extLst>
                  <a:ext uri="{0D108BD9-81ED-4DB2-BD59-A6C34878D82A}">
                    <a16:rowId xmlns:a16="http://schemas.microsoft.com/office/drawing/2014/main" val="10000"/>
                  </a:ext>
                </a:extLst>
              </a:tr>
              <a:tr h="520192">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CVS San Jose Central</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D1D5DB"/>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100 units</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D1D5DB"/>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Never evaluated — Schedule II gate fires before source search</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D1D5DB"/>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b="1" dirty="0">
                          <a:solidFill>
                            <a:srgbClr val="DC2626"/>
                          </a:solidFill>
                          <a:latin typeface="Calibri" pitchFamily="34" charset="0"/>
                          <a:ea typeface="Calibri" pitchFamily="34" charset="-122"/>
                          <a:cs typeface="Calibri" pitchFamily="34" charset="-120"/>
                        </a:rPr>
                        <a:t>NEVER REACHED</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D1D5DB"/>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extLst>
                  <a:ext uri="{0D108BD9-81ED-4DB2-BD59-A6C34878D82A}">
                    <a16:rowId xmlns:a16="http://schemas.microsoft.com/office/drawing/2014/main" val="10001"/>
                  </a:ext>
                </a:extLst>
              </a:tr>
              <a:tr h="520192">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CVS Westside SF</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no position</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No Adderall inventory at this store</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never reached</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extLst>
                  <a:ext uri="{0D108BD9-81ED-4DB2-BD59-A6C34878D82A}">
                    <a16:rowId xmlns:a16="http://schemas.microsoft.com/office/drawing/2014/main" val="10002"/>
                  </a:ext>
                </a:extLst>
              </a:tr>
              <a:tr h="520192">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CVS Eastside Oakland</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no position</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No Adderall inventory at this store</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never reached</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extLst>
                  <a:ext uri="{0D108BD9-81ED-4DB2-BD59-A6C34878D82A}">
                    <a16:rowId xmlns:a16="http://schemas.microsoft.com/office/drawing/2014/main" val="10003"/>
                  </a:ext>
                </a:extLst>
              </a:tr>
              <a:tr h="520192">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CVS Sunnyvale</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no position</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No Adderall inventory at this store</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never reached</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extLst>
                  <a:ext uri="{0D108BD9-81ED-4DB2-BD59-A6C34878D82A}">
                    <a16:rowId xmlns:a16="http://schemas.microsoft.com/office/drawing/2014/main" val="10004"/>
                  </a:ext>
                </a:extLst>
              </a:tr>
              <a:tr h="520192">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CVS Palo Alto</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no position</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Inactive store</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never reached</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Shape 4"/>
          <p:cNvSpPr/>
          <p:nvPr/>
        </p:nvSpPr>
        <p:spPr>
          <a:xfrm>
            <a:off x="812800" y="6209792"/>
            <a:ext cx="14630400" cy="1625600"/>
          </a:xfrm>
          <a:prstGeom prst="roundRect">
            <a:avLst>
              <a:gd name="adj" fmla="val 8000"/>
            </a:avLst>
          </a:prstGeom>
          <a:solidFill>
            <a:srgbClr val="FEE2E2"/>
          </a:solidFill>
          <a:ln/>
        </p:spPr>
        <p:txBody>
          <a:bodyPr/>
          <a:lstStyle/>
          <a:p>
            <a:endParaRPr lang="en-US" sz="3200"/>
          </a:p>
        </p:txBody>
      </p:sp>
      <p:sp>
        <p:nvSpPr>
          <p:cNvPr id="9" name="Text 5"/>
          <p:cNvSpPr/>
          <p:nvPr/>
        </p:nvSpPr>
        <p:spPr>
          <a:xfrm>
            <a:off x="1137920" y="6291072"/>
            <a:ext cx="13980160" cy="1463040"/>
          </a:xfrm>
          <a:prstGeom prst="rect">
            <a:avLst/>
          </a:prstGeom>
          <a:noFill/>
          <a:ln/>
        </p:spPr>
        <p:txBody>
          <a:bodyPr wrap="square" lIns="0" tIns="0" rIns="0" bIns="0" rtlCol="0" anchor="t"/>
          <a:lstStyle/>
          <a:p>
            <a:pPr>
              <a:lnSpc>
                <a:spcPct val="130000"/>
              </a:lnSpc>
            </a:pPr>
            <a:r>
              <a:rPr lang="en-US" sz="1778" b="1" dirty="0">
                <a:solidFill>
                  <a:srgbClr val="991B1B"/>
                </a:solidFill>
                <a:latin typeface="Calibri" pitchFamily="34" charset="0"/>
                <a:ea typeface="Calibri" pitchFamily="34" charset="-122"/>
                <a:cs typeface="Calibri" pitchFamily="34" charset="-120"/>
              </a:rPr>
              <a:t>Why it is blocked: </a:t>
            </a:r>
            <a:r>
              <a:rPr lang="en-US" sz="1778" dirty="0">
                <a:solidFill>
                  <a:srgbClr val="991B1B"/>
                </a:solidFill>
                <a:latin typeface="Calibri" pitchFamily="34" charset="0"/>
                <a:ea typeface="Calibri" pitchFamily="34" charset="-122"/>
                <a:cs typeface="Calibri" pitchFamily="34" charset="-120"/>
              </a:rPr>
              <a:t>Adderall is DEA Schedule II. The compliance gate (DEA_Schedule__c == 'II') fires as the very first check — before findSurplusSources() runs. Even though CVS San Jose Central has 100 surplus units, the code never looks. A Transfer_Log__c is created: Status = Blocked, Qty = 0. The agent directs the user to use DEA Form 222. confirm = true does NOT bypass — the gate fires and blocks again.</a:t>
            </a:r>
            <a:endParaRPr lang="en-US" sz="1778"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0" name="Background Grid"/>
          <p:cNvPicPr>
            <a:picLocks noChangeAspect="1"/>
          </p:cNvPicPr>
          <p:nvPr/>
        </p:nvPicPr>
        <p:blipFill>
          <a:blip r:embed="rId3"/>
          <a:stretch>
            <a:fillRect/>
          </a:stretch>
        </p:blipFill>
        <p:spPr>
          <a:xfrm>
            <a:off x="0" y="0"/>
            <a:ext cx="16256000" cy="9144000"/>
          </a:xfrm>
          <a:prstGeom prst="rect">
            <a:avLst/>
          </a:prstGeom>
        </p:spPr>
      </p:pic>
      <p:sp>
        <p:nvSpPr>
          <p:cNvPr id="2" name="Shape 0"/>
          <p:cNvSpPr/>
          <p:nvPr/>
        </p:nvSpPr>
        <p:spPr>
          <a:xfrm>
            <a:off x="812800" y="487680"/>
            <a:ext cx="2438400" cy="650240"/>
          </a:xfrm>
          <a:prstGeom prst="roundRect">
            <a:avLst>
              <a:gd name="adj" fmla="val 12500"/>
            </a:avLst>
          </a:prstGeom>
          <a:solidFill>
            <a:srgbClr val="D97706"/>
          </a:solidFill>
          <a:ln/>
        </p:spPr>
        <p:txBody>
          <a:bodyPr/>
          <a:lstStyle/>
          <a:p>
            <a:endParaRPr lang="en-US" sz="3200"/>
          </a:p>
        </p:txBody>
      </p:sp>
      <p:sp>
        <p:nvSpPr>
          <p:cNvPr id="3" name="Text 1"/>
          <p:cNvSpPr/>
          <p:nvPr/>
        </p:nvSpPr>
        <p:spPr>
          <a:xfrm>
            <a:off x="812800" y="487680"/>
            <a:ext cx="2438400" cy="650240"/>
          </a:xfrm>
          <a:prstGeom prst="rect">
            <a:avLst/>
          </a:prstGeom>
          <a:noFill/>
          <a:ln/>
        </p:spPr>
        <p:txBody>
          <a:bodyPr wrap="square" lIns="0" tIns="0" rIns="0" bIns="0" rtlCol="0" anchor="ctr"/>
          <a:lstStyle/>
          <a:p>
            <a:pPr algn="ctr"/>
            <a:r>
              <a:rPr lang="en-US" sz="2133" b="1" dirty="0">
                <a:solidFill>
                  <a:srgbClr val="FFFFFF"/>
                </a:solidFill>
                <a:latin typeface="Calibri" pitchFamily="34" charset="0"/>
                <a:ea typeface="Calibri" pitchFamily="34" charset="-122"/>
                <a:cs typeface="Calibri" pitchFamily="34" charset="-120"/>
              </a:rPr>
              <a:t>Scenario 3</a:t>
            </a:r>
            <a:endParaRPr lang="en-US" sz="2133" dirty="0"/>
          </a:p>
        </p:txBody>
      </p:sp>
      <p:pic>
        <p:nvPicPr>
          <p:cNvPr id="4" name="Image 0" descr="preencoded.png"/>
          <p:cNvPicPr>
            <a:picLocks noChangeAspect="1"/>
          </p:cNvPicPr>
          <p:nvPr/>
        </p:nvPicPr>
        <p:blipFill>
          <a:blip r:embed="rId4"/>
          <a:stretch>
            <a:fillRect/>
          </a:stretch>
        </p:blipFill>
        <p:spPr>
          <a:xfrm>
            <a:off x="14630400" y="406400"/>
            <a:ext cx="731520" cy="731520"/>
          </a:xfrm>
          <a:prstGeom prst="rect">
            <a:avLst/>
          </a:prstGeom>
        </p:spPr>
      </p:pic>
      <p:sp>
        <p:nvSpPr>
          <p:cNvPr id="5" name="Text 2"/>
          <p:cNvSpPr/>
          <p:nvPr/>
        </p:nvSpPr>
        <p:spPr>
          <a:xfrm>
            <a:off x="812800" y="1300480"/>
            <a:ext cx="14630400" cy="812800"/>
          </a:xfrm>
          <a:prstGeom prst="rect">
            <a:avLst/>
          </a:prstGeom>
          <a:noFill/>
          <a:ln/>
        </p:spPr>
        <p:txBody>
          <a:bodyPr wrap="square" lIns="0" tIns="0" rIns="0" bIns="0" rtlCol="0" anchor="ctr"/>
          <a:lstStyle/>
          <a:p>
            <a:r>
              <a:rPr lang="en-US" sz="3911" b="1" dirty="0">
                <a:solidFill>
                  <a:srgbClr val="1A1A2E"/>
                </a:solidFill>
                <a:latin typeface="Calibri" pitchFamily="34" charset="0"/>
                <a:ea typeface="Calibri" pitchFamily="34" charset="-122"/>
                <a:cs typeface="Calibri" pitchFamily="34" charset="-120"/>
              </a:rPr>
              <a:t>Lisinopril 10mg — No Suitable Source (Distributor Fallback)</a:t>
            </a:r>
            <a:endParaRPr lang="en-US" sz="3911" dirty="0"/>
          </a:p>
        </p:txBody>
      </p:sp>
      <p:sp>
        <p:nvSpPr>
          <p:cNvPr id="6" name="Text 3"/>
          <p:cNvSpPr/>
          <p:nvPr/>
        </p:nvSpPr>
        <p:spPr>
          <a:xfrm>
            <a:off x="812800" y="2113280"/>
            <a:ext cx="14630400" cy="487680"/>
          </a:xfrm>
          <a:prstGeom prst="rect">
            <a:avLst/>
          </a:prstGeom>
          <a:noFill/>
          <a:ln/>
        </p:spPr>
        <p:txBody>
          <a:bodyPr wrap="square" lIns="0" tIns="0" rIns="0" bIns="0" rtlCol="0" anchor="ctr"/>
          <a:lstStyle/>
          <a:p>
            <a:r>
              <a:rPr lang="en-US" sz="1956" dirty="0">
                <a:solidFill>
                  <a:srgbClr val="5A6C7D"/>
                </a:solidFill>
                <a:latin typeface="Calibri" pitchFamily="34" charset="0"/>
                <a:ea typeface="Calibri" pitchFamily="34" charset="-122"/>
                <a:cs typeface="Calibri" pitchFamily="34" charset="-120"/>
              </a:rPr>
              <a:t>Target: CVS Downtown SF  |  Qty: 0  |  Safety Stock: 60  |  Need: 60 units  |  Cold chain: NO  |  DEA: None</a:t>
            </a:r>
            <a:endParaRPr lang="en-US" sz="1956" dirty="0"/>
          </a:p>
        </p:txBody>
      </p:sp>
      <p:graphicFrame>
        <p:nvGraphicFramePr>
          <p:cNvPr id="7" name="Table 0"/>
          <p:cNvGraphicFramePr>
            <a:graphicFrameLocks noGrp="1"/>
          </p:cNvGraphicFramePr>
          <p:nvPr/>
        </p:nvGraphicFramePr>
        <p:xfrm>
          <a:off x="812800" y="2844800"/>
          <a:ext cx="12029440" cy="3776808"/>
        </p:xfrm>
        <a:graphic>
          <a:graphicData uri="http://schemas.openxmlformats.org/drawingml/2006/table">
            <a:tbl>
              <a:tblPr/>
              <a:tblGrid>
                <a:gridCol w="2926080">
                  <a:extLst>
                    <a:ext uri="{9D8B030D-6E8A-4147-A177-3AD203B41FA5}">
                      <a16:colId xmlns:a16="http://schemas.microsoft.com/office/drawing/2014/main" val="20000"/>
                    </a:ext>
                  </a:extLst>
                </a:gridCol>
                <a:gridCol w="1300480">
                  <a:extLst>
                    <a:ext uri="{9D8B030D-6E8A-4147-A177-3AD203B41FA5}">
                      <a16:colId xmlns:a16="http://schemas.microsoft.com/office/drawing/2014/main" val="20001"/>
                    </a:ext>
                  </a:extLst>
                </a:gridCol>
                <a:gridCol w="2275840">
                  <a:extLst>
                    <a:ext uri="{9D8B030D-6E8A-4147-A177-3AD203B41FA5}">
                      <a16:colId xmlns:a16="http://schemas.microsoft.com/office/drawing/2014/main" val="20002"/>
                    </a:ext>
                  </a:extLst>
                </a:gridCol>
                <a:gridCol w="1788160">
                  <a:extLst>
                    <a:ext uri="{9D8B030D-6E8A-4147-A177-3AD203B41FA5}">
                      <a16:colId xmlns:a16="http://schemas.microsoft.com/office/drawing/2014/main" val="20003"/>
                    </a:ext>
                  </a:extLst>
                </a:gridCol>
                <a:gridCol w="1788160">
                  <a:extLst>
                    <a:ext uri="{9D8B030D-6E8A-4147-A177-3AD203B41FA5}">
                      <a16:colId xmlns:a16="http://schemas.microsoft.com/office/drawing/2014/main" val="20004"/>
                    </a:ext>
                  </a:extLst>
                </a:gridCol>
                <a:gridCol w="1950720">
                  <a:extLst>
                    <a:ext uri="{9D8B030D-6E8A-4147-A177-3AD203B41FA5}">
                      <a16:colId xmlns:a16="http://schemas.microsoft.com/office/drawing/2014/main" val="20005"/>
                    </a:ext>
                  </a:extLst>
                </a:gridCol>
              </a:tblGrid>
              <a:tr h="520192">
                <a:tc>
                  <a:txBody>
                    <a:bodyPr/>
                    <a:lstStyle/>
                    <a:p>
                      <a:pPr marL="0" indent="0">
                        <a:buNone/>
                      </a:pPr>
                      <a:r>
                        <a:rPr lang="en-US" sz="1800" b="1" dirty="0">
                          <a:solidFill>
                            <a:srgbClr val="6B7280"/>
                          </a:solidFill>
                          <a:latin typeface="Calibri" pitchFamily="34" charset="0"/>
                          <a:ea typeface="Calibri" pitchFamily="34" charset="-122"/>
                          <a:cs typeface="Calibri" pitchFamily="34" charset="-120"/>
                        </a:rPr>
                        <a:t>Store</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7FAFA"/>
                    </a:solidFill>
                  </a:tcPr>
                </a:tc>
                <a:tc>
                  <a:txBody>
                    <a:bodyPr/>
                    <a:lstStyle/>
                    <a:p>
                      <a:pPr marL="0" indent="0">
                        <a:buNone/>
                      </a:pPr>
                      <a:r>
                        <a:rPr lang="en-US" sz="1800" b="1" dirty="0">
                          <a:solidFill>
                            <a:srgbClr val="6B7280"/>
                          </a:solidFill>
                          <a:latin typeface="Calibri" pitchFamily="34" charset="0"/>
                          <a:ea typeface="Calibri" pitchFamily="34" charset="-122"/>
                          <a:cs typeface="Calibri" pitchFamily="34" charset="-120"/>
                        </a:rPr>
                        <a:t>Stock</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7FAFA"/>
                    </a:solidFill>
                  </a:tcPr>
                </a:tc>
                <a:tc>
                  <a:txBody>
                    <a:bodyPr/>
                    <a:lstStyle/>
                    <a:p>
                      <a:pPr marL="0" indent="0">
                        <a:buNone/>
                      </a:pPr>
                      <a:r>
                        <a:rPr lang="en-US" sz="1800" b="1" dirty="0">
                          <a:solidFill>
                            <a:srgbClr val="6B7280"/>
                          </a:solidFill>
                          <a:latin typeface="Calibri" pitchFamily="34" charset="0"/>
                          <a:ea typeface="Calibri" pitchFamily="34" charset="-122"/>
                          <a:cs typeface="Calibri" pitchFamily="34" charset="-120"/>
                        </a:rPr>
                        <a:t>SOQL Filter</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7FAFA"/>
                    </a:solidFill>
                  </a:tcPr>
                </a:tc>
                <a:tc>
                  <a:txBody>
                    <a:bodyPr/>
                    <a:lstStyle/>
                    <a:p>
                      <a:pPr marL="0" indent="0">
                        <a:buNone/>
                      </a:pPr>
                      <a:r>
                        <a:rPr lang="en-US" sz="1800" b="1" dirty="0">
                          <a:solidFill>
                            <a:srgbClr val="6B7280"/>
                          </a:solidFill>
                          <a:latin typeface="Calibri" pitchFamily="34" charset="0"/>
                          <a:ea typeface="Calibri" pitchFamily="34" charset="-122"/>
                          <a:cs typeface="Calibri" pitchFamily="34" charset="-120"/>
                        </a:rPr>
                        <a:t>Cold Chain</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7FAFA"/>
                    </a:solidFill>
                  </a:tcPr>
                </a:tc>
                <a:tc>
                  <a:txBody>
                    <a:bodyPr/>
                    <a:lstStyle/>
                    <a:p>
                      <a:pPr marL="0" indent="0">
                        <a:buNone/>
                      </a:pPr>
                      <a:r>
                        <a:rPr lang="en-US" sz="1800" b="1" dirty="0">
                          <a:solidFill>
                            <a:srgbClr val="6B7280"/>
                          </a:solidFill>
                          <a:latin typeface="Calibri" pitchFamily="34" charset="0"/>
                          <a:ea typeface="Calibri" pitchFamily="34" charset="-122"/>
                          <a:cs typeface="Calibri" pitchFamily="34" charset="-120"/>
                        </a:rPr>
                        <a:t>DEA Reg</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7FAFA"/>
                    </a:solidFill>
                  </a:tcPr>
                </a:tc>
                <a:tc>
                  <a:txBody>
                    <a:bodyPr/>
                    <a:lstStyle/>
                    <a:p>
                      <a:pPr marL="0" indent="0">
                        <a:buNone/>
                      </a:pPr>
                      <a:r>
                        <a:rPr lang="en-US" sz="1800" b="1" dirty="0">
                          <a:solidFill>
                            <a:srgbClr val="6B7280"/>
                          </a:solidFill>
                          <a:latin typeface="Calibri" pitchFamily="34" charset="0"/>
                          <a:ea typeface="Calibri" pitchFamily="34" charset="-122"/>
                          <a:cs typeface="Calibri" pitchFamily="34" charset="-120"/>
                        </a:rPr>
                        <a:t>Result</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7FAFA"/>
                    </a:solidFill>
                  </a:tcPr>
                </a:tc>
                <a:extLst>
                  <a:ext uri="{0D108BD9-81ED-4DB2-BD59-A6C34878D82A}">
                    <a16:rowId xmlns:a16="http://schemas.microsoft.com/office/drawing/2014/main" val="10000"/>
                  </a:ext>
                </a:extLst>
              </a:tr>
              <a:tr h="520192">
                <a:tc>
                  <a:txBody>
                    <a:bodyPr/>
                    <a:lstStyle/>
                    <a:p>
                      <a:pPr marL="0" indent="0">
                        <a:buNone/>
                      </a:pPr>
                      <a:r>
                        <a:rPr lang="en-US" sz="1800" b="1" dirty="0">
                          <a:solidFill>
                            <a:srgbClr val="1A1A2E"/>
                          </a:solidFill>
                          <a:latin typeface="Calibri" pitchFamily="34" charset="0"/>
                          <a:ea typeface="Calibri" pitchFamily="34" charset="-122"/>
                          <a:cs typeface="Calibri" pitchFamily="34" charset="-120"/>
                        </a:rPr>
                        <a:t>CVS Westside SF</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D1D5DB"/>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dirty="0">
                          <a:solidFill>
                            <a:srgbClr val="1A1A2E"/>
                          </a:solidFill>
                          <a:latin typeface="Calibri" pitchFamily="34" charset="0"/>
                          <a:ea typeface="Calibri" pitchFamily="34" charset="-122"/>
                          <a:cs typeface="Calibri" pitchFamily="34" charset="-120"/>
                        </a:rPr>
                        <a:t>30 units</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D1D5DB"/>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b="1" dirty="0">
                          <a:solidFill>
                            <a:srgbClr val="DC2626"/>
                          </a:solidFill>
                          <a:latin typeface="Calibri" pitchFamily="34" charset="0"/>
                          <a:ea typeface="Calibri" pitchFamily="34" charset="-122"/>
                          <a:cs typeface="Calibri" pitchFamily="34" charset="-120"/>
                        </a:rPr>
                        <a:t>30 &lt; 61 needed</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D1D5DB"/>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not checked</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D1D5DB"/>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not checked</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D1D5DB"/>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b="1" dirty="0">
                          <a:solidFill>
                            <a:srgbClr val="DC2626"/>
                          </a:solidFill>
                          <a:latin typeface="Calibri" pitchFamily="34" charset="0"/>
                          <a:ea typeface="Calibri" pitchFamily="34" charset="-122"/>
                          <a:cs typeface="Calibri" pitchFamily="34" charset="-120"/>
                        </a:rPr>
                        <a:t>insufficient</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D1D5DB"/>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extLst>
                  <a:ext uri="{0D108BD9-81ED-4DB2-BD59-A6C34878D82A}">
                    <a16:rowId xmlns:a16="http://schemas.microsoft.com/office/drawing/2014/main" val="10001"/>
                  </a:ext>
                </a:extLst>
              </a:tr>
              <a:tr h="677333">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CVS Eastside Oakland</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none</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no Lisinopril at this store</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no inventory</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extLst>
                  <a:ext uri="{0D108BD9-81ED-4DB2-BD59-A6C34878D82A}">
                    <a16:rowId xmlns:a16="http://schemas.microsoft.com/office/drawing/2014/main" val="10002"/>
                  </a:ext>
                </a:extLst>
              </a:tr>
              <a:tr h="677333">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CVS San Jose Central</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none</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no Lisinopril at this store</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no inventory</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extLst>
                  <a:ext uri="{0D108BD9-81ED-4DB2-BD59-A6C34878D82A}">
                    <a16:rowId xmlns:a16="http://schemas.microsoft.com/office/drawing/2014/main" val="10003"/>
                  </a:ext>
                </a:extLst>
              </a:tr>
              <a:tr h="677333">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CVS Sunnyvale</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none</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no Lisinopril at this store</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no inventory</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extLst>
                  <a:ext uri="{0D108BD9-81ED-4DB2-BD59-A6C34878D82A}">
                    <a16:rowId xmlns:a16="http://schemas.microsoft.com/office/drawing/2014/main" val="10004"/>
                  </a:ext>
                </a:extLst>
              </a:tr>
              <a:tr h="677333">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CVS Palo Alto</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none</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inactive — excluded by SOQL</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b="1" dirty="0">
                          <a:solidFill>
                            <a:srgbClr val="DC2626"/>
                          </a:solidFill>
                          <a:latin typeface="Calibri" pitchFamily="34" charset="0"/>
                          <a:ea typeface="Calibri" pitchFamily="34" charset="-122"/>
                          <a:cs typeface="Calibri" pitchFamily="34" charset="-120"/>
                        </a:rPr>
                        <a:t>inactive</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Shape 4"/>
          <p:cNvSpPr/>
          <p:nvPr/>
        </p:nvSpPr>
        <p:spPr>
          <a:xfrm>
            <a:off x="812800" y="6209792"/>
            <a:ext cx="14630400" cy="1381760"/>
          </a:xfrm>
          <a:prstGeom prst="roundRect">
            <a:avLst>
              <a:gd name="adj" fmla="val 9412"/>
            </a:avLst>
          </a:prstGeom>
          <a:solidFill>
            <a:srgbClr val="FEF3C7"/>
          </a:solidFill>
          <a:ln/>
        </p:spPr>
        <p:txBody>
          <a:bodyPr/>
          <a:lstStyle/>
          <a:p>
            <a:endParaRPr lang="en-US" sz="3200"/>
          </a:p>
        </p:txBody>
      </p:sp>
      <p:sp>
        <p:nvSpPr>
          <p:cNvPr id="9" name="Text 5"/>
          <p:cNvSpPr/>
          <p:nvPr/>
        </p:nvSpPr>
        <p:spPr>
          <a:xfrm>
            <a:off x="1137920" y="6291072"/>
            <a:ext cx="13980160" cy="1219200"/>
          </a:xfrm>
          <a:prstGeom prst="rect">
            <a:avLst/>
          </a:prstGeom>
          <a:noFill/>
          <a:ln/>
        </p:spPr>
        <p:txBody>
          <a:bodyPr wrap="square" lIns="0" tIns="0" rIns="0" bIns="0" rtlCol="0" anchor="t"/>
          <a:lstStyle/>
          <a:p>
            <a:pPr>
              <a:lnSpc>
                <a:spcPct val="130000"/>
              </a:lnSpc>
            </a:pPr>
            <a:r>
              <a:rPr lang="en-US" sz="1778" b="1" dirty="0">
                <a:solidFill>
                  <a:srgbClr val="D97706"/>
                </a:solidFill>
                <a:latin typeface="Calibri" pitchFamily="34" charset="0"/>
                <a:ea typeface="Calibri" pitchFamily="34" charset="-122"/>
                <a:cs typeface="Calibri" pitchFamily="34" charset="-120"/>
              </a:rPr>
              <a:t>Why no source is found: </a:t>
            </a:r>
            <a:r>
              <a:rPr lang="en-US" sz="1778" dirty="0">
                <a:solidFill>
                  <a:srgbClr val="D97706"/>
                </a:solidFill>
                <a:latin typeface="Calibri" pitchFamily="34" charset="0"/>
                <a:ea typeface="Calibri" pitchFamily="34" charset="-122"/>
                <a:cs typeface="Calibri" pitchFamily="34" charset="-120"/>
              </a:rPr>
              <a:t>SOQL requires Quantity &gt; Safety_Stock + 1 = 61. CVS Westside SF has just 30 units — below threshold. SOQL returns zero rows. selectBestSource() gets an empty list. Code falls through to distributor fallback recommendation. No Transfer_Log__c created — nothing was attempted or denied.</a:t>
            </a:r>
            <a:endParaRPr lang="en-US" sz="1778"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0" name="Background Grid"/>
          <p:cNvPicPr>
            <a:picLocks noChangeAspect="1"/>
          </p:cNvPicPr>
          <p:nvPr/>
        </p:nvPicPr>
        <p:blipFill>
          <a:blip r:embed="rId3"/>
          <a:stretch>
            <a:fillRect/>
          </a:stretch>
        </p:blipFill>
        <p:spPr>
          <a:xfrm>
            <a:off x="0" y="0"/>
            <a:ext cx="16256000" cy="9144000"/>
          </a:xfrm>
          <a:prstGeom prst="rect">
            <a:avLst/>
          </a:prstGeom>
        </p:spPr>
      </p:pic>
      <p:sp>
        <p:nvSpPr>
          <p:cNvPr id="2" name="Shape 0"/>
          <p:cNvSpPr/>
          <p:nvPr/>
        </p:nvSpPr>
        <p:spPr>
          <a:xfrm>
            <a:off x="812800" y="487680"/>
            <a:ext cx="2438400" cy="650240"/>
          </a:xfrm>
          <a:prstGeom prst="roundRect">
            <a:avLst>
              <a:gd name="adj" fmla="val 12500"/>
            </a:avLst>
          </a:prstGeom>
          <a:solidFill>
            <a:srgbClr val="D97706"/>
          </a:solidFill>
          <a:ln/>
        </p:spPr>
        <p:txBody>
          <a:bodyPr/>
          <a:lstStyle/>
          <a:p>
            <a:endParaRPr lang="en-US" sz="3200"/>
          </a:p>
        </p:txBody>
      </p:sp>
      <p:sp>
        <p:nvSpPr>
          <p:cNvPr id="3" name="Text 1"/>
          <p:cNvSpPr/>
          <p:nvPr/>
        </p:nvSpPr>
        <p:spPr>
          <a:xfrm>
            <a:off x="812800" y="487680"/>
            <a:ext cx="2438400" cy="650240"/>
          </a:xfrm>
          <a:prstGeom prst="rect">
            <a:avLst/>
          </a:prstGeom>
          <a:noFill/>
          <a:ln/>
        </p:spPr>
        <p:txBody>
          <a:bodyPr wrap="square" lIns="0" tIns="0" rIns="0" bIns="0" rtlCol="0" anchor="ctr"/>
          <a:lstStyle/>
          <a:p>
            <a:pPr algn="ctr"/>
            <a:r>
              <a:rPr lang="en-US" sz="2133" b="1" dirty="0">
                <a:solidFill>
                  <a:srgbClr val="FFFFFF"/>
                </a:solidFill>
                <a:latin typeface="Calibri" pitchFamily="34" charset="0"/>
                <a:ea typeface="Calibri" pitchFamily="34" charset="-122"/>
                <a:cs typeface="Calibri" pitchFamily="34" charset="-120"/>
              </a:rPr>
              <a:t>Scenario 4</a:t>
            </a:r>
            <a:endParaRPr lang="en-US" sz="2133" dirty="0"/>
          </a:p>
        </p:txBody>
      </p:sp>
      <p:pic>
        <p:nvPicPr>
          <p:cNvPr id="4" name="Image 0" descr="preencoded.png"/>
          <p:cNvPicPr>
            <a:picLocks noChangeAspect="1"/>
          </p:cNvPicPr>
          <p:nvPr/>
        </p:nvPicPr>
        <p:blipFill>
          <a:blip r:embed="rId4"/>
          <a:stretch>
            <a:fillRect/>
          </a:stretch>
        </p:blipFill>
        <p:spPr>
          <a:xfrm>
            <a:off x="14630400" y="406400"/>
            <a:ext cx="731520" cy="731520"/>
          </a:xfrm>
          <a:prstGeom prst="rect">
            <a:avLst/>
          </a:prstGeom>
        </p:spPr>
      </p:pic>
      <p:sp>
        <p:nvSpPr>
          <p:cNvPr id="5" name="Text 2"/>
          <p:cNvSpPr/>
          <p:nvPr/>
        </p:nvSpPr>
        <p:spPr>
          <a:xfrm>
            <a:off x="812800" y="1300480"/>
            <a:ext cx="14630400" cy="812800"/>
          </a:xfrm>
          <a:prstGeom prst="rect">
            <a:avLst/>
          </a:prstGeom>
          <a:noFill/>
          <a:ln/>
        </p:spPr>
        <p:txBody>
          <a:bodyPr wrap="square" lIns="0" tIns="0" rIns="0" bIns="0" rtlCol="0" anchor="ctr"/>
          <a:lstStyle/>
          <a:p>
            <a:r>
              <a:rPr lang="en-US" sz="3911" b="1" dirty="0">
                <a:solidFill>
                  <a:srgbClr val="1A1A2E"/>
                </a:solidFill>
                <a:latin typeface="Calibri" pitchFamily="34" charset="0"/>
                <a:ea typeface="Calibri" pitchFamily="34" charset="-122"/>
                <a:cs typeface="Calibri" pitchFamily="34" charset="-120"/>
              </a:rPr>
              <a:t>Ozempic 1mg — Near-Expiry Source Excluded</a:t>
            </a:r>
            <a:endParaRPr lang="en-US" sz="3911" dirty="0"/>
          </a:p>
        </p:txBody>
      </p:sp>
      <p:sp>
        <p:nvSpPr>
          <p:cNvPr id="6" name="Text 3"/>
          <p:cNvSpPr/>
          <p:nvPr/>
        </p:nvSpPr>
        <p:spPr>
          <a:xfrm>
            <a:off x="812800" y="2113280"/>
            <a:ext cx="14630400" cy="487680"/>
          </a:xfrm>
          <a:prstGeom prst="rect">
            <a:avLst/>
          </a:prstGeom>
          <a:noFill/>
          <a:ln/>
        </p:spPr>
        <p:txBody>
          <a:bodyPr wrap="square" lIns="0" tIns="0" rIns="0" bIns="0" rtlCol="0" anchor="ctr"/>
          <a:lstStyle/>
          <a:p>
            <a:r>
              <a:rPr lang="en-US" sz="1956" dirty="0">
                <a:solidFill>
                  <a:srgbClr val="5A6C7D"/>
                </a:solidFill>
                <a:latin typeface="Calibri" pitchFamily="34" charset="0"/>
                <a:ea typeface="Calibri" pitchFamily="34" charset="-122"/>
                <a:cs typeface="Calibri" pitchFamily="34" charset="-120"/>
              </a:rPr>
              <a:t>Target: CVS San Jose Central  |  Qty: 5  |  Safety Stock: 40  |  Need: 35 units  |  Cold chain required: YES</a:t>
            </a:r>
            <a:endParaRPr lang="en-US" sz="1956" dirty="0"/>
          </a:p>
        </p:txBody>
      </p:sp>
      <p:graphicFrame>
        <p:nvGraphicFramePr>
          <p:cNvPr id="7" name="Table 0"/>
          <p:cNvGraphicFramePr>
            <a:graphicFrameLocks noGrp="1"/>
          </p:cNvGraphicFramePr>
          <p:nvPr/>
        </p:nvGraphicFramePr>
        <p:xfrm>
          <a:off x="812800" y="2844800"/>
          <a:ext cx="12517120" cy="3121152"/>
        </p:xfrm>
        <a:graphic>
          <a:graphicData uri="http://schemas.openxmlformats.org/drawingml/2006/table">
            <a:tbl>
              <a:tblPr/>
              <a:tblGrid>
                <a:gridCol w="29260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788160">
                  <a:extLst>
                    <a:ext uri="{9D8B030D-6E8A-4147-A177-3AD203B41FA5}">
                      <a16:colId xmlns:a16="http://schemas.microsoft.com/office/drawing/2014/main" val="20002"/>
                    </a:ext>
                  </a:extLst>
                </a:gridCol>
                <a:gridCol w="2600960">
                  <a:extLst>
                    <a:ext uri="{9D8B030D-6E8A-4147-A177-3AD203B41FA5}">
                      <a16:colId xmlns:a16="http://schemas.microsoft.com/office/drawing/2014/main" val="20003"/>
                    </a:ext>
                  </a:extLst>
                </a:gridCol>
                <a:gridCol w="1788160">
                  <a:extLst>
                    <a:ext uri="{9D8B030D-6E8A-4147-A177-3AD203B41FA5}">
                      <a16:colId xmlns:a16="http://schemas.microsoft.com/office/drawing/2014/main" val="20004"/>
                    </a:ext>
                  </a:extLst>
                </a:gridCol>
                <a:gridCol w="1950720">
                  <a:extLst>
                    <a:ext uri="{9D8B030D-6E8A-4147-A177-3AD203B41FA5}">
                      <a16:colId xmlns:a16="http://schemas.microsoft.com/office/drawing/2014/main" val="20005"/>
                    </a:ext>
                  </a:extLst>
                </a:gridCol>
              </a:tblGrid>
              <a:tr h="520192">
                <a:tc>
                  <a:txBody>
                    <a:bodyPr/>
                    <a:lstStyle/>
                    <a:p>
                      <a:pPr marL="0" indent="0">
                        <a:buNone/>
                      </a:pPr>
                      <a:r>
                        <a:rPr lang="en-US" sz="1800" b="1" dirty="0">
                          <a:solidFill>
                            <a:srgbClr val="6B7280"/>
                          </a:solidFill>
                          <a:latin typeface="Calibri" pitchFamily="34" charset="0"/>
                          <a:ea typeface="Calibri" pitchFamily="34" charset="-122"/>
                          <a:cs typeface="Calibri" pitchFamily="34" charset="-120"/>
                        </a:rPr>
                        <a:t>Store</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7FAFA"/>
                    </a:solidFill>
                  </a:tcPr>
                </a:tc>
                <a:tc>
                  <a:txBody>
                    <a:bodyPr/>
                    <a:lstStyle/>
                    <a:p>
                      <a:pPr marL="0" indent="0">
                        <a:buNone/>
                      </a:pPr>
                      <a:r>
                        <a:rPr lang="en-US" sz="1800" b="1" dirty="0">
                          <a:solidFill>
                            <a:srgbClr val="6B7280"/>
                          </a:solidFill>
                          <a:latin typeface="Calibri" pitchFamily="34" charset="0"/>
                          <a:ea typeface="Calibri" pitchFamily="34" charset="-122"/>
                          <a:cs typeface="Calibri" pitchFamily="34" charset="-120"/>
                        </a:rPr>
                        <a:t>Stock</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7FAFA"/>
                    </a:solidFill>
                  </a:tcPr>
                </a:tc>
                <a:tc>
                  <a:txBody>
                    <a:bodyPr/>
                    <a:lstStyle/>
                    <a:p>
                      <a:pPr marL="0" indent="0">
                        <a:buNone/>
                      </a:pPr>
                      <a:r>
                        <a:rPr lang="en-US" sz="1800" b="1" dirty="0">
                          <a:solidFill>
                            <a:srgbClr val="6B7280"/>
                          </a:solidFill>
                          <a:latin typeface="Calibri" pitchFamily="34" charset="0"/>
                          <a:ea typeface="Calibri" pitchFamily="34" charset="-122"/>
                          <a:cs typeface="Calibri" pitchFamily="34" charset="-120"/>
                        </a:rPr>
                        <a:t>Cold Chain</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7FAFA"/>
                    </a:solidFill>
                  </a:tcPr>
                </a:tc>
                <a:tc>
                  <a:txBody>
                    <a:bodyPr/>
                    <a:lstStyle/>
                    <a:p>
                      <a:pPr marL="0" indent="0">
                        <a:buNone/>
                      </a:pPr>
                      <a:r>
                        <a:rPr lang="en-US" sz="1800" b="1" dirty="0">
                          <a:solidFill>
                            <a:srgbClr val="6B7280"/>
                          </a:solidFill>
                          <a:latin typeface="Calibri" pitchFamily="34" charset="0"/>
                          <a:ea typeface="Calibri" pitchFamily="34" charset="-122"/>
                          <a:cs typeface="Calibri" pitchFamily="34" charset="-120"/>
                        </a:rPr>
                        <a:t>DEA Reg</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7FAFA"/>
                    </a:solidFill>
                  </a:tcPr>
                </a:tc>
                <a:tc>
                  <a:txBody>
                    <a:bodyPr/>
                    <a:lstStyle/>
                    <a:p>
                      <a:pPr marL="0" indent="0">
                        <a:buNone/>
                      </a:pPr>
                      <a:r>
                        <a:rPr lang="en-US" sz="1800" b="1" dirty="0">
                          <a:solidFill>
                            <a:srgbClr val="6B7280"/>
                          </a:solidFill>
                          <a:latin typeface="Calibri" pitchFamily="34" charset="0"/>
                          <a:ea typeface="Calibri" pitchFamily="34" charset="-122"/>
                          <a:cs typeface="Calibri" pitchFamily="34" charset="-120"/>
                        </a:rPr>
                        <a:t>Expiry</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7FAFA"/>
                    </a:solidFill>
                  </a:tcPr>
                </a:tc>
                <a:tc>
                  <a:txBody>
                    <a:bodyPr/>
                    <a:lstStyle/>
                    <a:p>
                      <a:pPr marL="0" indent="0">
                        <a:buNone/>
                      </a:pPr>
                      <a:r>
                        <a:rPr lang="en-US" sz="1800" b="1" dirty="0">
                          <a:solidFill>
                            <a:srgbClr val="6B7280"/>
                          </a:solidFill>
                          <a:latin typeface="Calibri" pitchFamily="34" charset="0"/>
                          <a:ea typeface="Calibri" pitchFamily="34" charset="-122"/>
                          <a:cs typeface="Calibri" pitchFamily="34" charset="-120"/>
                        </a:rPr>
                        <a:t>Result</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7FAFA"/>
                    </a:solidFill>
                  </a:tcPr>
                </a:tc>
                <a:extLst>
                  <a:ext uri="{0D108BD9-81ED-4DB2-BD59-A6C34878D82A}">
                    <a16:rowId xmlns:a16="http://schemas.microsoft.com/office/drawing/2014/main" val="10000"/>
                  </a:ext>
                </a:extLst>
              </a:tr>
              <a:tr h="520192">
                <a:tc>
                  <a:txBody>
                    <a:bodyPr/>
                    <a:lstStyle/>
                    <a:p>
                      <a:pPr marL="0" indent="0">
                        <a:buNone/>
                      </a:pPr>
                      <a:r>
                        <a:rPr lang="en-US" sz="1800" b="1" dirty="0">
                          <a:solidFill>
                            <a:srgbClr val="1A1A2E"/>
                          </a:solidFill>
                          <a:latin typeface="Calibri" pitchFamily="34" charset="0"/>
                          <a:ea typeface="Calibri" pitchFamily="34" charset="-122"/>
                          <a:cs typeface="Calibri" pitchFamily="34" charset="-120"/>
                        </a:rPr>
                        <a:t>CVS Downtown SF</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D1D5DB"/>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b="1" dirty="0">
                          <a:solidFill>
                            <a:srgbClr val="1A1A2E"/>
                          </a:solidFill>
                          <a:latin typeface="Calibri" pitchFamily="34" charset="0"/>
                          <a:ea typeface="Calibri" pitchFamily="34" charset="-122"/>
                          <a:cs typeface="Calibri" pitchFamily="34" charset="-120"/>
                        </a:rPr>
                        <a:t>100 units</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D1D5DB"/>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b="1" dirty="0">
                          <a:solidFill>
                            <a:srgbClr val="059669"/>
                          </a:solidFill>
                          <a:latin typeface="Calibri" pitchFamily="34" charset="0"/>
                          <a:ea typeface="Calibri" pitchFamily="34" charset="-122"/>
                          <a:cs typeface="Calibri" pitchFamily="34" charset="-120"/>
                        </a:rPr>
                        <a:t>capable</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D1D5DB"/>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b="1" dirty="0">
                          <a:solidFill>
                            <a:srgbClr val="059669"/>
                          </a:solidFill>
                          <a:latin typeface="Calibri" pitchFamily="34" charset="0"/>
                          <a:ea typeface="Calibri" pitchFamily="34" charset="-122"/>
                          <a:cs typeface="Calibri" pitchFamily="34" charset="-120"/>
                        </a:rPr>
                        <a:t>DEA-SF-DT-001</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D1D5DB"/>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b="1" dirty="0">
                          <a:solidFill>
                            <a:srgbClr val="DC2626"/>
                          </a:solidFill>
                          <a:latin typeface="Calibri" pitchFamily="34" charset="0"/>
                          <a:ea typeface="Calibri" pitchFamily="34" charset="-122"/>
                          <a:cs typeface="Calibri" pitchFamily="34" charset="-120"/>
                        </a:rPr>
                        <a:t>15 days &lt; 30</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D1D5DB"/>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b="1" dirty="0">
                          <a:solidFill>
                            <a:srgbClr val="DC2626"/>
                          </a:solidFill>
                          <a:latin typeface="Calibri" pitchFamily="34" charset="0"/>
                          <a:ea typeface="Calibri" pitchFamily="34" charset="-122"/>
                          <a:cs typeface="Calibri" pitchFamily="34" charset="-120"/>
                        </a:rPr>
                        <a:t>EXCLUDED</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D1D5DB"/>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extLst>
                  <a:ext uri="{0D108BD9-81ED-4DB2-BD59-A6C34878D82A}">
                    <a16:rowId xmlns:a16="http://schemas.microsoft.com/office/drawing/2014/main" val="10001"/>
                  </a:ext>
                </a:extLst>
              </a:tr>
              <a:tr h="520192">
                <a:tc>
                  <a:txBody>
                    <a:bodyPr/>
                    <a:lstStyle/>
                    <a:p>
                      <a:pPr marL="0" indent="0">
                        <a:buNone/>
                      </a:pPr>
                      <a:r>
                        <a:rPr lang="en-US" sz="1800" b="1" dirty="0">
                          <a:solidFill>
                            <a:srgbClr val="1A1A2E"/>
                          </a:solidFill>
                          <a:latin typeface="Calibri" pitchFamily="34" charset="0"/>
                          <a:ea typeface="Calibri" pitchFamily="34" charset="-122"/>
                          <a:cs typeface="Calibri" pitchFamily="34" charset="-120"/>
                        </a:rPr>
                        <a:t>CVS Westside SF</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dirty="0">
                          <a:solidFill>
                            <a:srgbClr val="1A1A2E"/>
                          </a:solidFill>
                          <a:latin typeface="Calibri" pitchFamily="34" charset="0"/>
                          <a:ea typeface="Calibri" pitchFamily="34" charset="-122"/>
                          <a:cs typeface="Calibri" pitchFamily="34" charset="-120"/>
                        </a:rPr>
                        <a:t>80 units</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b="1" dirty="0">
                          <a:solidFill>
                            <a:srgbClr val="059669"/>
                          </a:solidFill>
                          <a:latin typeface="Calibri" pitchFamily="34" charset="0"/>
                          <a:ea typeface="Calibri" pitchFamily="34" charset="-122"/>
                          <a:cs typeface="Calibri" pitchFamily="34" charset="-120"/>
                        </a:rPr>
                        <a:t>capable</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b="1" dirty="0">
                          <a:solidFill>
                            <a:srgbClr val="059669"/>
                          </a:solidFill>
                          <a:latin typeface="Calibri" pitchFamily="34" charset="0"/>
                          <a:ea typeface="Calibri" pitchFamily="34" charset="-122"/>
                          <a:cs typeface="Calibri" pitchFamily="34" charset="-120"/>
                        </a:rPr>
                        <a:t>DEA-SF-WS-002</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b="1" dirty="0">
                          <a:solidFill>
                            <a:srgbClr val="059669"/>
                          </a:solidFill>
                          <a:latin typeface="Calibri" pitchFamily="34" charset="0"/>
                          <a:ea typeface="Calibri" pitchFamily="34" charset="-122"/>
                          <a:cs typeface="Calibri" pitchFamily="34" charset="-120"/>
                        </a:rPr>
                        <a:t>120 days</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b="1" dirty="0">
                          <a:solidFill>
                            <a:srgbClr val="1E40AF"/>
                          </a:solidFill>
                          <a:latin typeface="Calibri" pitchFamily="34" charset="0"/>
                          <a:ea typeface="Calibri" pitchFamily="34" charset="-122"/>
                          <a:cs typeface="Calibri" pitchFamily="34" charset="-120"/>
                        </a:rPr>
                        <a:t>SELECTED</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extLst>
                  <a:ext uri="{0D108BD9-81ED-4DB2-BD59-A6C34878D82A}">
                    <a16:rowId xmlns:a16="http://schemas.microsoft.com/office/drawing/2014/main" val="10002"/>
                  </a:ext>
                </a:extLst>
              </a:tr>
              <a:tr h="520192">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CVS Eastside Oakland</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no position</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b="1" dirty="0">
                          <a:solidFill>
                            <a:srgbClr val="DC2626"/>
                          </a:solidFill>
                          <a:latin typeface="Calibri" pitchFamily="34" charset="0"/>
                          <a:ea typeface="Calibri" pitchFamily="34" charset="-122"/>
                          <a:cs typeface="Calibri" pitchFamily="34" charset="-120"/>
                        </a:rPr>
                        <a:t>not capable</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b="1" dirty="0">
                          <a:solidFill>
                            <a:srgbClr val="059669"/>
                          </a:solidFill>
                          <a:latin typeface="Calibri" pitchFamily="34" charset="0"/>
                          <a:ea typeface="Calibri" pitchFamily="34" charset="-122"/>
                          <a:cs typeface="Calibri" pitchFamily="34" charset="-120"/>
                        </a:rPr>
                        <a:t>has reg</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n/a</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no inventory</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extLst>
                  <a:ext uri="{0D108BD9-81ED-4DB2-BD59-A6C34878D82A}">
                    <a16:rowId xmlns:a16="http://schemas.microsoft.com/office/drawing/2014/main" val="10003"/>
                  </a:ext>
                </a:extLst>
              </a:tr>
              <a:tr h="520192">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CVS Sunnyvale</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no position</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b="1" dirty="0">
                          <a:solidFill>
                            <a:srgbClr val="059669"/>
                          </a:solidFill>
                          <a:latin typeface="Calibri" pitchFamily="34" charset="0"/>
                          <a:ea typeface="Calibri" pitchFamily="34" charset="-122"/>
                          <a:cs typeface="Calibri" pitchFamily="34" charset="-120"/>
                        </a:rPr>
                        <a:t>capable</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b="1" dirty="0">
                          <a:solidFill>
                            <a:srgbClr val="DC2626"/>
                          </a:solidFill>
                          <a:latin typeface="Calibri" pitchFamily="34" charset="0"/>
                          <a:ea typeface="Calibri" pitchFamily="34" charset="-122"/>
                          <a:cs typeface="Calibri" pitchFamily="34" charset="-120"/>
                        </a:rPr>
                        <a:t>blank</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n/a</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no inventory</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extLst>
                  <a:ext uri="{0D108BD9-81ED-4DB2-BD59-A6C34878D82A}">
                    <a16:rowId xmlns:a16="http://schemas.microsoft.com/office/drawing/2014/main" val="10004"/>
                  </a:ext>
                </a:extLst>
              </a:tr>
              <a:tr h="520192">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CVS Palo Alto</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no position</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b="1" dirty="0">
                          <a:solidFill>
                            <a:srgbClr val="059669"/>
                          </a:solidFill>
                          <a:latin typeface="Calibri" pitchFamily="34" charset="0"/>
                          <a:ea typeface="Calibri" pitchFamily="34" charset="-122"/>
                          <a:cs typeface="Calibri" pitchFamily="34" charset="-120"/>
                        </a:rPr>
                        <a:t>capable</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b="1" dirty="0">
                          <a:solidFill>
                            <a:srgbClr val="059669"/>
                          </a:solidFill>
                          <a:latin typeface="Calibri" pitchFamily="34" charset="0"/>
                          <a:ea typeface="Calibri" pitchFamily="34" charset="-122"/>
                          <a:cs typeface="Calibri" pitchFamily="34" charset="-120"/>
                        </a:rPr>
                        <a:t>has reg</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n/a</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b="1" dirty="0">
                          <a:solidFill>
                            <a:srgbClr val="DC2626"/>
                          </a:solidFill>
                          <a:latin typeface="Calibri" pitchFamily="34" charset="0"/>
                          <a:ea typeface="Calibri" pitchFamily="34" charset="-122"/>
                          <a:cs typeface="Calibri" pitchFamily="34" charset="-120"/>
                        </a:rPr>
                        <a:t>inactive</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Shape 4"/>
          <p:cNvSpPr/>
          <p:nvPr/>
        </p:nvSpPr>
        <p:spPr>
          <a:xfrm>
            <a:off x="812800" y="6209792"/>
            <a:ext cx="14630400" cy="1381760"/>
          </a:xfrm>
          <a:prstGeom prst="roundRect">
            <a:avLst>
              <a:gd name="adj" fmla="val 9412"/>
            </a:avLst>
          </a:prstGeom>
          <a:solidFill>
            <a:srgbClr val="DBEAFE"/>
          </a:solidFill>
          <a:ln/>
        </p:spPr>
        <p:txBody>
          <a:bodyPr/>
          <a:lstStyle/>
          <a:p>
            <a:endParaRPr lang="en-US" sz="3200"/>
          </a:p>
        </p:txBody>
      </p:sp>
      <p:sp>
        <p:nvSpPr>
          <p:cNvPr id="9" name="Text 5"/>
          <p:cNvSpPr/>
          <p:nvPr/>
        </p:nvSpPr>
        <p:spPr>
          <a:xfrm>
            <a:off x="1137920" y="6291072"/>
            <a:ext cx="13980160" cy="1219200"/>
          </a:xfrm>
          <a:prstGeom prst="rect">
            <a:avLst/>
          </a:prstGeom>
          <a:noFill/>
          <a:ln/>
        </p:spPr>
        <p:txBody>
          <a:bodyPr wrap="square" lIns="0" tIns="0" rIns="0" bIns="0" rtlCol="0" anchor="t"/>
          <a:lstStyle/>
          <a:p>
            <a:pPr>
              <a:lnSpc>
                <a:spcPct val="130000"/>
              </a:lnSpc>
            </a:pPr>
            <a:r>
              <a:rPr lang="en-US" sz="1778" b="1" dirty="0">
                <a:solidFill>
                  <a:srgbClr val="1E40AF"/>
                </a:solidFill>
                <a:latin typeface="Calibri" pitchFamily="34" charset="0"/>
                <a:ea typeface="Calibri" pitchFamily="34" charset="-122"/>
                <a:cs typeface="Calibri" pitchFamily="34" charset="-120"/>
              </a:rPr>
              <a:t>Why CVS Westside SF wins: </a:t>
            </a:r>
            <a:r>
              <a:rPr lang="en-US" sz="1778" dirty="0">
                <a:solidFill>
                  <a:srgbClr val="1E40AF"/>
                </a:solidFill>
                <a:latin typeface="Calibri" pitchFamily="34" charset="0"/>
                <a:ea typeface="Calibri" pitchFamily="34" charset="-122"/>
                <a:cs typeface="Calibri" pitchFamily="34" charset="-120"/>
              </a:rPr>
              <a:t>CVS Downtown SF had more stock (100 vs 80) and was evaluated first, but its 15-day expiry failed the 30-day minimum threshold. CVS Westside SF passed all three checks — cold chain, DEA registration, and 120-day expiry — so it was selected despite having less stock. Transfer qty: MIN(60 x 50%, 35) = 30 units.</a:t>
            </a:r>
            <a:endParaRPr lang="en-US" sz="1778"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0" name="Background Grid"/>
          <p:cNvPicPr>
            <a:picLocks noChangeAspect="1"/>
          </p:cNvPicPr>
          <p:nvPr/>
        </p:nvPicPr>
        <p:blipFill>
          <a:blip r:embed="rId3"/>
          <a:stretch>
            <a:fillRect/>
          </a:stretch>
        </p:blipFill>
        <p:spPr>
          <a:xfrm>
            <a:off x="0" y="0"/>
            <a:ext cx="16256000" cy="9144000"/>
          </a:xfrm>
          <a:prstGeom prst="rect">
            <a:avLst/>
          </a:prstGeom>
        </p:spPr>
      </p:pic>
      <p:sp>
        <p:nvSpPr>
          <p:cNvPr id="2" name="Shape 0"/>
          <p:cNvSpPr/>
          <p:nvPr/>
        </p:nvSpPr>
        <p:spPr>
          <a:xfrm>
            <a:off x="812800" y="487680"/>
            <a:ext cx="2438400" cy="650240"/>
          </a:xfrm>
          <a:prstGeom prst="roundRect">
            <a:avLst>
              <a:gd name="adj" fmla="val 12500"/>
            </a:avLst>
          </a:prstGeom>
          <a:solidFill>
            <a:srgbClr val="059669"/>
          </a:solidFill>
          <a:ln/>
        </p:spPr>
        <p:txBody>
          <a:bodyPr/>
          <a:lstStyle/>
          <a:p>
            <a:endParaRPr lang="en-US" sz="3200"/>
          </a:p>
        </p:txBody>
      </p:sp>
      <p:sp>
        <p:nvSpPr>
          <p:cNvPr id="3" name="Text 1"/>
          <p:cNvSpPr/>
          <p:nvPr/>
        </p:nvSpPr>
        <p:spPr>
          <a:xfrm>
            <a:off x="812800" y="487680"/>
            <a:ext cx="2438400" cy="650240"/>
          </a:xfrm>
          <a:prstGeom prst="rect">
            <a:avLst/>
          </a:prstGeom>
          <a:noFill/>
          <a:ln/>
        </p:spPr>
        <p:txBody>
          <a:bodyPr wrap="square" lIns="0" tIns="0" rIns="0" bIns="0" rtlCol="0" anchor="ctr"/>
          <a:lstStyle/>
          <a:p>
            <a:pPr algn="ctr"/>
            <a:r>
              <a:rPr lang="en-US" sz="2133" b="1" dirty="0">
                <a:solidFill>
                  <a:srgbClr val="FFFFFF"/>
                </a:solidFill>
                <a:latin typeface="Calibri" pitchFamily="34" charset="0"/>
                <a:ea typeface="Calibri" pitchFamily="34" charset="-122"/>
                <a:cs typeface="Calibri" pitchFamily="34" charset="-120"/>
              </a:rPr>
              <a:t>Scenario 5</a:t>
            </a:r>
            <a:endParaRPr lang="en-US" sz="2133" dirty="0"/>
          </a:p>
        </p:txBody>
      </p:sp>
      <p:pic>
        <p:nvPicPr>
          <p:cNvPr id="4" name="Image 0" descr="preencoded.png"/>
          <p:cNvPicPr>
            <a:picLocks noChangeAspect="1"/>
          </p:cNvPicPr>
          <p:nvPr/>
        </p:nvPicPr>
        <p:blipFill>
          <a:blip r:embed="rId4"/>
          <a:stretch>
            <a:fillRect/>
          </a:stretch>
        </p:blipFill>
        <p:spPr>
          <a:xfrm>
            <a:off x="14630400" y="406400"/>
            <a:ext cx="731520" cy="731520"/>
          </a:xfrm>
          <a:prstGeom prst="rect">
            <a:avLst/>
          </a:prstGeom>
        </p:spPr>
      </p:pic>
      <p:sp>
        <p:nvSpPr>
          <p:cNvPr id="5" name="Text 2"/>
          <p:cNvSpPr/>
          <p:nvPr/>
        </p:nvSpPr>
        <p:spPr>
          <a:xfrm>
            <a:off x="812800" y="1300480"/>
            <a:ext cx="14630400" cy="812800"/>
          </a:xfrm>
          <a:prstGeom prst="rect">
            <a:avLst/>
          </a:prstGeom>
          <a:noFill/>
          <a:ln/>
        </p:spPr>
        <p:txBody>
          <a:bodyPr wrap="square" lIns="0" tIns="0" rIns="0" bIns="0" rtlCol="0" anchor="ctr"/>
          <a:lstStyle/>
          <a:p>
            <a:r>
              <a:rPr lang="en-US" sz="3911" b="1" dirty="0">
                <a:solidFill>
                  <a:srgbClr val="1A1A2E"/>
                </a:solidFill>
                <a:latin typeface="Calibri" pitchFamily="34" charset="0"/>
                <a:ea typeface="Calibri" pitchFamily="34" charset="-122"/>
                <a:cs typeface="Calibri" pitchFamily="34" charset="-120"/>
              </a:rPr>
              <a:t>Xanax 0.5mg — Schedule IV Allowed Transfer</a:t>
            </a:r>
            <a:endParaRPr lang="en-US" sz="3911" dirty="0"/>
          </a:p>
        </p:txBody>
      </p:sp>
      <p:sp>
        <p:nvSpPr>
          <p:cNvPr id="6" name="Text 3"/>
          <p:cNvSpPr/>
          <p:nvPr/>
        </p:nvSpPr>
        <p:spPr>
          <a:xfrm>
            <a:off x="812800" y="2113280"/>
            <a:ext cx="14630400" cy="487680"/>
          </a:xfrm>
          <a:prstGeom prst="rect">
            <a:avLst/>
          </a:prstGeom>
          <a:noFill/>
          <a:ln/>
        </p:spPr>
        <p:txBody>
          <a:bodyPr wrap="square" lIns="0" tIns="0" rIns="0" bIns="0" rtlCol="0" anchor="ctr"/>
          <a:lstStyle/>
          <a:p>
            <a:r>
              <a:rPr lang="en-US" sz="1956" dirty="0">
                <a:solidFill>
                  <a:srgbClr val="5A6C7D"/>
                </a:solidFill>
                <a:latin typeface="Calibri" pitchFamily="34" charset="0"/>
                <a:ea typeface="Calibri" pitchFamily="34" charset="-122"/>
                <a:cs typeface="Calibri" pitchFamily="34" charset="-120"/>
              </a:rPr>
              <a:t>Target: CVS Eastside Oakland  |  Qty: 10  |  Safety Stock: 40  |  Need: 30 units  |  DEA Schedule: IV  |  Cold chain: NO</a:t>
            </a:r>
            <a:endParaRPr lang="en-US" sz="1956" dirty="0"/>
          </a:p>
        </p:txBody>
      </p:sp>
      <p:graphicFrame>
        <p:nvGraphicFramePr>
          <p:cNvPr id="7" name="Table 0"/>
          <p:cNvGraphicFramePr>
            <a:graphicFrameLocks noGrp="1"/>
          </p:cNvGraphicFramePr>
          <p:nvPr/>
        </p:nvGraphicFramePr>
        <p:xfrm>
          <a:off x="812800" y="2844800"/>
          <a:ext cx="12517120" cy="3997620"/>
        </p:xfrm>
        <a:graphic>
          <a:graphicData uri="http://schemas.openxmlformats.org/drawingml/2006/table">
            <a:tbl>
              <a:tblPr/>
              <a:tblGrid>
                <a:gridCol w="29260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788160">
                  <a:extLst>
                    <a:ext uri="{9D8B030D-6E8A-4147-A177-3AD203B41FA5}">
                      <a16:colId xmlns:a16="http://schemas.microsoft.com/office/drawing/2014/main" val="20002"/>
                    </a:ext>
                  </a:extLst>
                </a:gridCol>
                <a:gridCol w="2600960">
                  <a:extLst>
                    <a:ext uri="{9D8B030D-6E8A-4147-A177-3AD203B41FA5}">
                      <a16:colId xmlns:a16="http://schemas.microsoft.com/office/drawing/2014/main" val="20003"/>
                    </a:ext>
                  </a:extLst>
                </a:gridCol>
                <a:gridCol w="1788160">
                  <a:extLst>
                    <a:ext uri="{9D8B030D-6E8A-4147-A177-3AD203B41FA5}">
                      <a16:colId xmlns:a16="http://schemas.microsoft.com/office/drawing/2014/main" val="20004"/>
                    </a:ext>
                  </a:extLst>
                </a:gridCol>
                <a:gridCol w="1950720">
                  <a:extLst>
                    <a:ext uri="{9D8B030D-6E8A-4147-A177-3AD203B41FA5}">
                      <a16:colId xmlns:a16="http://schemas.microsoft.com/office/drawing/2014/main" val="20005"/>
                    </a:ext>
                  </a:extLst>
                </a:gridCol>
              </a:tblGrid>
              <a:tr h="520192">
                <a:tc>
                  <a:txBody>
                    <a:bodyPr/>
                    <a:lstStyle/>
                    <a:p>
                      <a:pPr marL="0" indent="0">
                        <a:buNone/>
                      </a:pPr>
                      <a:r>
                        <a:rPr lang="en-US" sz="1800" b="1" dirty="0">
                          <a:solidFill>
                            <a:srgbClr val="6B7280"/>
                          </a:solidFill>
                          <a:latin typeface="Calibri" pitchFamily="34" charset="0"/>
                          <a:ea typeface="Calibri" pitchFamily="34" charset="-122"/>
                          <a:cs typeface="Calibri" pitchFamily="34" charset="-120"/>
                        </a:rPr>
                        <a:t>Store</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7FAFA"/>
                    </a:solidFill>
                  </a:tcPr>
                </a:tc>
                <a:tc>
                  <a:txBody>
                    <a:bodyPr/>
                    <a:lstStyle/>
                    <a:p>
                      <a:pPr marL="0" indent="0">
                        <a:buNone/>
                      </a:pPr>
                      <a:r>
                        <a:rPr lang="en-US" sz="1800" b="1" dirty="0">
                          <a:solidFill>
                            <a:srgbClr val="6B7280"/>
                          </a:solidFill>
                          <a:latin typeface="Calibri" pitchFamily="34" charset="0"/>
                          <a:ea typeface="Calibri" pitchFamily="34" charset="-122"/>
                          <a:cs typeface="Calibri" pitchFamily="34" charset="-120"/>
                        </a:rPr>
                        <a:t>Stock</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7FAFA"/>
                    </a:solidFill>
                  </a:tcPr>
                </a:tc>
                <a:tc>
                  <a:txBody>
                    <a:bodyPr/>
                    <a:lstStyle/>
                    <a:p>
                      <a:pPr marL="0" indent="0">
                        <a:buNone/>
                      </a:pPr>
                      <a:r>
                        <a:rPr lang="en-US" sz="1800" b="1" dirty="0">
                          <a:solidFill>
                            <a:srgbClr val="6B7280"/>
                          </a:solidFill>
                          <a:latin typeface="Calibri" pitchFamily="34" charset="0"/>
                          <a:ea typeface="Calibri" pitchFamily="34" charset="-122"/>
                          <a:cs typeface="Calibri" pitchFamily="34" charset="-120"/>
                        </a:rPr>
                        <a:t>Cold Chain</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7FAFA"/>
                    </a:solidFill>
                  </a:tcPr>
                </a:tc>
                <a:tc>
                  <a:txBody>
                    <a:bodyPr/>
                    <a:lstStyle/>
                    <a:p>
                      <a:pPr marL="0" indent="0">
                        <a:buNone/>
                      </a:pPr>
                      <a:r>
                        <a:rPr lang="en-US" sz="1800" b="1" dirty="0">
                          <a:solidFill>
                            <a:srgbClr val="6B7280"/>
                          </a:solidFill>
                          <a:latin typeface="Calibri" pitchFamily="34" charset="0"/>
                          <a:ea typeface="Calibri" pitchFamily="34" charset="-122"/>
                          <a:cs typeface="Calibri" pitchFamily="34" charset="-120"/>
                        </a:rPr>
                        <a:t>DEA Reg</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7FAFA"/>
                    </a:solidFill>
                  </a:tcPr>
                </a:tc>
                <a:tc>
                  <a:txBody>
                    <a:bodyPr/>
                    <a:lstStyle/>
                    <a:p>
                      <a:pPr marL="0" indent="0">
                        <a:buNone/>
                      </a:pPr>
                      <a:r>
                        <a:rPr lang="en-US" sz="1800" b="1" dirty="0">
                          <a:solidFill>
                            <a:srgbClr val="6B7280"/>
                          </a:solidFill>
                          <a:latin typeface="Calibri" pitchFamily="34" charset="0"/>
                          <a:ea typeface="Calibri" pitchFamily="34" charset="-122"/>
                          <a:cs typeface="Calibri" pitchFamily="34" charset="-120"/>
                        </a:rPr>
                        <a:t>Expiry</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7FAFA"/>
                    </a:solidFill>
                  </a:tcPr>
                </a:tc>
                <a:tc>
                  <a:txBody>
                    <a:bodyPr/>
                    <a:lstStyle/>
                    <a:p>
                      <a:pPr marL="0" indent="0">
                        <a:buNone/>
                      </a:pPr>
                      <a:r>
                        <a:rPr lang="en-US" sz="1800" b="1" dirty="0">
                          <a:solidFill>
                            <a:srgbClr val="6B7280"/>
                          </a:solidFill>
                          <a:latin typeface="Calibri" pitchFamily="34" charset="0"/>
                          <a:ea typeface="Calibri" pitchFamily="34" charset="-122"/>
                          <a:cs typeface="Calibri" pitchFamily="34" charset="-120"/>
                        </a:rPr>
                        <a:t>Result</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7FAFA"/>
                    </a:solidFill>
                  </a:tcPr>
                </a:tc>
                <a:extLst>
                  <a:ext uri="{0D108BD9-81ED-4DB2-BD59-A6C34878D82A}">
                    <a16:rowId xmlns:a16="http://schemas.microsoft.com/office/drawing/2014/main" val="10000"/>
                  </a:ext>
                </a:extLst>
              </a:tr>
              <a:tr h="520192">
                <a:tc>
                  <a:txBody>
                    <a:bodyPr/>
                    <a:lstStyle/>
                    <a:p>
                      <a:pPr marL="0" indent="0">
                        <a:buNone/>
                      </a:pPr>
                      <a:r>
                        <a:rPr lang="en-US" sz="1800" b="1" dirty="0">
                          <a:solidFill>
                            <a:srgbClr val="1A1A2E"/>
                          </a:solidFill>
                          <a:latin typeface="Calibri" pitchFamily="34" charset="0"/>
                          <a:ea typeface="Calibri" pitchFamily="34" charset="-122"/>
                          <a:cs typeface="Calibri" pitchFamily="34" charset="-120"/>
                        </a:rPr>
                        <a:t>CVS San Jose Central</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D1D5DB"/>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b="1" dirty="0">
                          <a:solidFill>
                            <a:srgbClr val="1A1A2E"/>
                          </a:solidFill>
                          <a:latin typeface="Calibri" pitchFamily="34" charset="0"/>
                          <a:ea typeface="Calibri" pitchFamily="34" charset="-122"/>
                          <a:cs typeface="Calibri" pitchFamily="34" charset="-120"/>
                        </a:rPr>
                        <a:t>150 units</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D1D5DB"/>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not needed</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D1D5DB"/>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b="1" dirty="0">
                          <a:solidFill>
                            <a:srgbClr val="059669"/>
                          </a:solidFill>
                          <a:latin typeface="Calibri" pitchFamily="34" charset="0"/>
                          <a:ea typeface="Calibri" pitchFamily="34" charset="-122"/>
                          <a:cs typeface="Calibri" pitchFamily="34" charset="-120"/>
                        </a:rPr>
                        <a:t>DEA-SJ-CT-004</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D1D5DB"/>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b="1" dirty="0">
                          <a:solidFill>
                            <a:srgbClr val="059669"/>
                          </a:solidFill>
                          <a:latin typeface="Calibri" pitchFamily="34" charset="0"/>
                          <a:ea typeface="Calibri" pitchFamily="34" charset="-122"/>
                          <a:cs typeface="Calibri" pitchFamily="34" charset="-120"/>
                        </a:rPr>
                        <a:t>180 days</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D1D5DB"/>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b="1" dirty="0">
                          <a:solidFill>
                            <a:srgbClr val="1E40AF"/>
                          </a:solidFill>
                          <a:latin typeface="Calibri" pitchFamily="34" charset="0"/>
                          <a:ea typeface="Calibri" pitchFamily="34" charset="-122"/>
                          <a:cs typeface="Calibri" pitchFamily="34" charset="-120"/>
                        </a:rPr>
                        <a:t>SELECTED</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D1D5DB"/>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extLst>
                  <a:ext uri="{0D108BD9-81ED-4DB2-BD59-A6C34878D82A}">
                    <a16:rowId xmlns:a16="http://schemas.microsoft.com/office/drawing/2014/main" val="10001"/>
                  </a:ext>
                </a:extLst>
              </a:tr>
              <a:tr h="948267">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CVS Downtown SF</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no position</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no Xanax inventory at this store</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no inventory</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extLst>
                  <a:ext uri="{0D108BD9-81ED-4DB2-BD59-A6C34878D82A}">
                    <a16:rowId xmlns:a16="http://schemas.microsoft.com/office/drawing/2014/main" val="10002"/>
                  </a:ext>
                </a:extLst>
              </a:tr>
              <a:tr h="948267">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CVS Westside SF</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no position</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no Xanax inventory at this store</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no inventory</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extLst>
                  <a:ext uri="{0D108BD9-81ED-4DB2-BD59-A6C34878D82A}">
                    <a16:rowId xmlns:a16="http://schemas.microsoft.com/office/drawing/2014/main" val="10003"/>
                  </a:ext>
                </a:extLst>
              </a:tr>
              <a:tr h="520192">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CVS Sunnyvale</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no position</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b="1" dirty="0">
                          <a:solidFill>
                            <a:srgbClr val="DC2626"/>
                          </a:solidFill>
                          <a:latin typeface="Calibri" pitchFamily="34" charset="0"/>
                          <a:ea typeface="Calibri" pitchFamily="34" charset="-122"/>
                          <a:cs typeface="Calibri" pitchFamily="34" charset="-120"/>
                        </a:rPr>
                        <a:t>blank</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no inventory</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extLst>
                  <a:ext uri="{0D108BD9-81ED-4DB2-BD59-A6C34878D82A}">
                    <a16:rowId xmlns:a16="http://schemas.microsoft.com/office/drawing/2014/main" val="10004"/>
                  </a:ext>
                </a:extLst>
              </a:tr>
              <a:tr h="520192">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CVS Palo Alto</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no position</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inactive store</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b="1" dirty="0">
                          <a:solidFill>
                            <a:srgbClr val="DC2626"/>
                          </a:solidFill>
                          <a:latin typeface="Calibri" pitchFamily="34" charset="0"/>
                          <a:ea typeface="Calibri" pitchFamily="34" charset="-122"/>
                          <a:cs typeface="Calibri" pitchFamily="34" charset="-120"/>
                        </a:rPr>
                        <a:t>inactive</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Shape 4"/>
          <p:cNvSpPr/>
          <p:nvPr/>
        </p:nvSpPr>
        <p:spPr>
          <a:xfrm>
            <a:off x="812800" y="6209792"/>
            <a:ext cx="14630400" cy="1381760"/>
          </a:xfrm>
          <a:prstGeom prst="roundRect">
            <a:avLst>
              <a:gd name="adj" fmla="val 9412"/>
            </a:avLst>
          </a:prstGeom>
          <a:solidFill>
            <a:srgbClr val="DBEAFE"/>
          </a:solidFill>
          <a:ln/>
        </p:spPr>
        <p:txBody>
          <a:bodyPr/>
          <a:lstStyle/>
          <a:p>
            <a:endParaRPr lang="en-US" sz="3200"/>
          </a:p>
        </p:txBody>
      </p:sp>
      <p:sp>
        <p:nvSpPr>
          <p:cNvPr id="9" name="Text 5"/>
          <p:cNvSpPr/>
          <p:nvPr/>
        </p:nvSpPr>
        <p:spPr>
          <a:xfrm>
            <a:off x="1137920" y="6291072"/>
            <a:ext cx="13980160" cy="1219200"/>
          </a:xfrm>
          <a:prstGeom prst="rect">
            <a:avLst/>
          </a:prstGeom>
          <a:noFill/>
          <a:ln/>
        </p:spPr>
        <p:txBody>
          <a:bodyPr wrap="square" lIns="0" tIns="0" rIns="0" bIns="0" rtlCol="0" anchor="t"/>
          <a:lstStyle/>
          <a:p>
            <a:pPr>
              <a:lnSpc>
                <a:spcPct val="130000"/>
              </a:lnSpc>
            </a:pPr>
            <a:r>
              <a:rPr lang="en-US" sz="1778" b="1" dirty="0">
                <a:solidFill>
                  <a:srgbClr val="1E40AF"/>
                </a:solidFill>
                <a:latin typeface="Calibri" pitchFamily="34" charset="0"/>
                <a:ea typeface="Calibri" pitchFamily="34" charset="-122"/>
                <a:cs typeface="Calibri" pitchFamily="34" charset="-120"/>
              </a:rPr>
              <a:t>Why Schedule IV is allowed: </a:t>
            </a:r>
            <a:r>
              <a:rPr lang="en-US" sz="1778" dirty="0">
                <a:solidFill>
                  <a:srgbClr val="1E40AF"/>
                </a:solidFill>
                <a:latin typeface="Calibri" pitchFamily="34" charset="0"/>
                <a:ea typeface="Calibri" pitchFamily="34" charset="-122"/>
                <a:cs typeface="Calibri" pitchFamily="34" charset="-120"/>
              </a:rPr>
              <a:t>The compliance gate checks DEA_Schedule__c == 'II' only. Xanax is Schedule IV ('IV' != 'II'), so the gate does not fire. The code proceeds to normal source selection. Only Schedule II triggers the hard block. Transfer qty: MIN(120 x 50%, 30) = 30 units.</a:t>
            </a:r>
            <a:endParaRPr lang="en-US" sz="1778"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812800" y="487680"/>
            <a:ext cx="2438400" cy="650240"/>
          </a:xfrm>
          <a:prstGeom prst="roundRect">
            <a:avLst>
              <a:gd name="adj" fmla="val 12500"/>
            </a:avLst>
          </a:prstGeom>
          <a:solidFill>
            <a:srgbClr val="1E40AF"/>
          </a:solidFill>
          <a:ln/>
        </p:spPr>
        <p:txBody>
          <a:bodyPr/>
          <a:lstStyle/>
          <a:p>
            <a:endParaRPr lang="en-US" sz="3200"/>
          </a:p>
        </p:txBody>
      </p:sp>
      <p:sp>
        <p:nvSpPr>
          <p:cNvPr id="3" name="Text 1"/>
          <p:cNvSpPr/>
          <p:nvPr/>
        </p:nvSpPr>
        <p:spPr>
          <a:xfrm>
            <a:off x="812800" y="487680"/>
            <a:ext cx="2438400" cy="650240"/>
          </a:xfrm>
          <a:prstGeom prst="rect">
            <a:avLst/>
          </a:prstGeom>
          <a:noFill/>
          <a:ln/>
        </p:spPr>
        <p:txBody>
          <a:bodyPr wrap="square" lIns="0" tIns="0" rIns="0" bIns="0" rtlCol="0" anchor="ctr"/>
          <a:lstStyle/>
          <a:p>
            <a:pPr algn="ctr"/>
            <a:r>
              <a:rPr lang="en-US" sz="2133" b="1" dirty="0">
                <a:solidFill>
                  <a:srgbClr val="FFFFFF"/>
                </a:solidFill>
                <a:latin typeface="Calibri" pitchFamily="34" charset="0"/>
                <a:ea typeface="Calibri" pitchFamily="34" charset="-122"/>
                <a:cs typeface="Calibri" pitchFamily="34" charset="-120"/>
              </a:rPr>
              <a:t>Scenario 6</a:t>
            </a:r>
            <a:endParaRPr lang="en-US" sz="2133" dirty="0"/>
          </a:p>
        </p:txBody>
      </p:sp>
      <p:pic>
        <p:nvPicPr>
          <p:cNvPr id="4" name="Image 0" descr="preencoded.png"/>
          <p:cNvPicPr>
            <a:picLocks noChangeAspect="1"/>
          </p:cNvPicPr>
          <p:nvPr/>
        </p:nvPicPr>
        <p:blipFill>
          <a:blip r:embed="rId3"/>
          <a:stretch>
            <a:fillRect/>
          </a:stretch>
        </p:blipFill>
        <p:spPr>
          <a:xfrm>
            <a:off x="14630400" y="406400"/>
            <a:ext cx="731520" cy="731520"/>
          </a:xfrm>
          <a:prstGeom prst="rect">
            <a:avLst/>
          </a:prstGeom>
        </p:spPr>
      </p:pic>
      <p:sp>
        <p:nvSpPr>
          <p:cNvPr id="5" name="Text 2"/>
          <p:cNvSpPr/>
          <p:nvPr/>
        </p:nvSpPr>
        <p:spPr>
          <a:xfrm>
            <a:off x="812800" y="1300480"/>
            <a:ext cx="14630400" cy="812800"/>
          </a:xfrm>
          <a:prstGeom prst="rect">
            <a:avLst/>
          </a:prstGeom>
          <a:noFill/>
          <a:ln/>
        </p:spPr>
        <p:txBody>
          <a:bodyPr wrap="square" lIns="0" tIns="0" rIns="0" bIns="0" rtlCol="0" anchor="ctr"/>
          <a:lstStyle/>
          <a:p>
            <a:r>
              <a:rPr lang="en-US" sz="3911" b="1" dirty="0">
                <a:solidFill>
                  <a:srgbClr val="1A1A2E"/>
                </a:solidFill>
                <a:latin typeface="Calibri" pitchFamily="34" charset="0"/>
                <a:ea typeface="Calibri" pitchFamily="34" charset="-122"/>
                <a:cs typeface="Calibri" pitchFamily="34" charset="-120"/>
              </a:rPr>
              <a:t>Amoxicillin 500mg — Multiple Sources (Highest Qty Wins)</a:t>
            </a:r>
            <a:endParaRPr lang="en-US" sz="3911" dirty="0"/>
          </a:p>
        </p:txBody>
      </p:sp>
      <p:sp>
        <p:nvSpPr>
          <p:cNvPr id="6" name="Text 3"/>
          <p:cNvSpPr/>
          <p:nvPr/>
        </p:nvSpPr>
        <p:spPr>
          <a:xfrm>
            <a:off x="812800" y="2113280"/>
            <a:ext cx="14630400" cy="487680"/>
          </a:xfrm>
          <a:prstGeom prst="rect">
            <a:avLst/>
          </a:prstGeom>
          <a:noFill/>
          <a:ln/>
        </p:spPr>
        <p:txBody>
          <a:bodyPr wrap="square" lIns="0" tIns="0" rIns="0" bIns="0" rtlCol="0" anchor="ctr"/>
          <a:lstStyle/>
          <a:p>
            <a:r>
              <a:rPr lang="en-US" sz="1956" dirty="0">
                <a:solidFill>
                  <a:srgbClr val="5A6C7D"/>
                </a:solidFill>
                <a:latin typeface="Calibri" pitchFamily="34" charset="0"/>
                <a:ea typeface="Calibri" pitchFamily="34" charset="-122"/>
                <a:cs typeface="Calibri" pitchFamily="34" charset="-120"/>
              </a:rPr>
              <a:t>Target: CVS Sunnyvale  |  Qty: 0  |  Safety Stock: 50  |  Need: 50 units  |  Cold chain: NO  |  DEA: None</a:t>
            </a:r>
            <a:endParaRPr lang="en-US" sz="1956" dirty="0"/>
          </a:p>
        </p:txBody>
      </p:sp>
      <p:graphicFrame>
        <p:nvGraphicFramePr>
          <p:cNvPr id="8" name="Table 0"/>
          <p:cNvGraphicFramePr>
            <a:graphicFrameLocks noGrp="1"/>
          </p:cNvGraphicFramePr>
          <p:nvPr/>
        </p:nvGraphicFramePr>
        <p:xfrm>
          <a:off x="812800" y="2844800"/>
          <a:ext cx="12517120" cy="3887214"/>
        </p:xfrm>
        <a:graphic>
          <a:graphicData uri="http://schemas.openxmlformats.org/drawingml/2006/table">
            <a:tbl>
              <a:tblPr/>
              <a:tblGrid>
                <a:gridCol w="29260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788160">
                  <a:extLst>
                    <a:ext uri="{9D8B030D-6E8A-4147-A177-3AD203B41FA5}">
                      <a16:colId xmlns:a16="http://schemas.microsoft.com/office/drawing/2014/main" val="20002"/>
                    </a:ext>
                  </a:extLst>
                </a:gridCol>
                <a:gridCol w="2600960">
                  <a:extLst>
                    <a:ext uri="{9D8B030D-6E8A-4147-A177-3AD203B41FA5}">
                      <a16:colId xmlns:a16="http://schemas.microsoft.com/office/drawing/2014/main" val="20003"/>
                    </a:ext>
                  </a:extLst>
                </a:gridCol>
                <a:gridCol w="1788160">
                  <a:extLst>
                    <a:ext uri="{9D8B030D-6E8A-4147-A177-3AD203B41FA5}">
                      <a16:colId xmlns:a16="http://schemas.microsoft.com/office/drawing/2014/main" val="20004"/>
                    </a:ext>
                  </a:extLst>
                </a:gridCol>
                <a:gridCol w="1950720">
                  <a:extLst>
                    <a:ext uri="{9D8B030D-6E8A-4147-A177-3AD203B41FA5}">
                      <a16:colId xmlns:a16="http://schemas.microsoft.com/office/drawing/2014/main" val="20005"/>
                    </a:ext>
                  </a:extLst>
                </a:gridCol>
              </a:tblGrid>
              <a:tr h="520192">
                <a:tc>
                  <a:txBody>
                    <a:bodyPr/>
                    <a:lstStyle/>
                    <a:p>
                      <a:pPr marL="0" indent="0">
                        <a:buNone/>
                      </a:pPr>
                      <a:r>
                        <a:rPr lang="en-US" sz="1800" b="1" dirty="0">
                          <a:solidFill>
                            <a:srgbClr val="6B7280"/>
                          </a:solidFill>
                          <a:latin typeface="Calibri" pitchFamily="34" charset="0"/>
                          <a:ea typeface="Calibri" pitchFamily="34" charset="-122"/>
                          <a:cs typeface="Calibri" pitchFamily="34" charset="-120"/>
                        </a:rPr>
                        <a:t>Store</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7FAFA"/>
                    </a:solidFill>
                  </a:tcPr>
                </a:tc>
                <a:tc>
                  <a:txBody>
                    <a:bodyPr/>
                    <a:lstStyle/>
                    <a:p>
                      <a:pPr marL="0" indent="0">
                        <a:buNone/>
                      </a:pPr>
                      <a:r>
                        <a:rPr lang="en-US" sz="1800" b="1" dirty="0">
                          <a:solidFill>
                            <a:srgbClr val="6B7280"/>
                          </a:solidFill>
                          <a:latin typeface="Calibri" pitchFamily="34" charset="0"/>
                          <a:ea typeface="Calibri" pitchFamily="34" charset="-122"/>
                          <a:cs typeface="Calibri" pitchFamily="34" charset="-120"/>
                        </a:rPr>
                        <a:t>Stock</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7FAFA"/>
                    </a:solidFill>
                  </a:tcPr>
                </a:tc>
                <a:tc>
                  <a:txBody>
                    <a:bodyPr/>
                    <a:lstStyle/>
                    <a:p>
                      <a:pPr marL="0" indent="0">
                        <a:buNone/>
                      </a:pPr>
                      <a:r>
                        <a:rPr lang="en-US" sz="1800" b="1" dirty="0">
                          <a:solidFill>
                            <a:srgbClr val="6B7280"/>
                          </a:solidFill>
                          <a:latin typeface="Calibri" pitchFamily="34" charset="0"/>
                          <a:ea typeface="Calibri" pitchFamily="34" charset="-122"/>
                          <a:cs typeface="Calibri" pitchFamily="34" charset="-120"/>
                        </a:rPr>
                        <a:t>Cold Chain</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7FAFA"/>
                    </a:solidFill>
                  </a:tcPr>
                </a:tc>
                <a:tc>
                  <a:txBody>
                    <a:bodyPr/>
                    <a:lstStyle/>
                    <a:p>
                      <a:pPr marL="0" indent="0">
                        <a:buNone/>
                      </a:pPr>
                      <a:r>
                        <a:rPr lang="en-US" sz="1800" b="1" dirty="0">
                          <a:solidFill>
                            <a:srgbClr val="6B7280"/>
                          </a:solidFill>
                          <a:latin typeface="Calibri" pitchFamily="34" charset="0"/>
                          <a:ea typeface="Calibri" pitchFamily="34" charset="-122"/>
                          <a:cs typeface="Calibri" pitchFamily="34" charset="-120"/>
                        </a:rPr>
                        <a:t>DEA Reg</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7FAFA"/>
                    </a:solidFill>
                  </a:tcPr>
                </a:tc>
                <a:tc>
                  <a:txBody>
                    <a:bodyPr/>
                    <a:lstStyle/>
                    <a:p>
                      <a:pPr marL="0" indent="0">
                        <a:buNone/>
                      </a:pPr>
                      <a:r>
                        <a:rPr lang="en-US" sz="1800" b="1" dirty="0">
                          <a:solidFill>
                            <a:srgbClr val="6B7280"/>
                          </a:solidFill>
                          <a:latin typeface="Calibri" pitchFamily="34" charset="0"/>
                          <a:ea typeface="Calibri" pitchFamily="34" charset="-122"/>
                          <a:cs typeface="Calibri" pitchFamily="34" charset="-120"/>
                        </a:rPr>
                        <a:t>Expiry</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7FAFA"/>
                    </a:solidFill>
                  </a:tcPr>
                </a:tc>
                <a:tc>
                  <a:txBody>
                    <a:bodyPr/>
                    <a:lstStyle/>
                    <a:p>
                      <a:pPr marL="0" indent="0">
                        <a:buNone/>
                      </a:pPr>
                      <a:r>
                        <a:rPr lang="en-US" sz="1800" b="1" dirty="0">
                          <a:solidFill>
                            <a:srgbClr val="6B7280"/>
                          </a:solidFill>
                          <a:latin typeface="Calibri" pitchFamily="34" charset="0"/>
                          <a:ea typeface="Calibri" pitchFamily="34" charset="-122"/>
                          <a:cs typeface="Calibri" pitchFamily="34" charset="-120"/>
                        </a:rPr>
                        <a:t>Result</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7FAFA"/>
                    </a:solidFill>
                  </a:tcPr>
                </a:tc>
                <a:extLst>
                  <a:ext uri="{0D108BD9-81ED-4DB2-BD59-A6C34878D82A}">
                    <a16:rowId xmlns:a16="http://schemas.microsoft.com/office/drawing/2014/main" val="10000"/>
                  </a:ext>
                </a:extLst>
              </a:tr>
              <a:tr h="520192">
                <a:tc>
                  <a:txBody>
                    <a:bodyPr/>
                    <a:lstStyle/>
                    <a:p>
                      <a:pPr marL="0" indent="0">
                        <a:buNone/>
                      </a:pPr>
                      <a:r>
                        <a:rPr lang="en-US" sz="1800" b="1" dirty="0">
                          <a:solidFill>
                            <a:srgbClr val="1A1A2E"/>
                          </a:solidFill>
                          <a:latin typeface="Calibri" pitchFamily="34" charset="0"/>
                          <a:ea typeface="Calibri" pitchFamily="34" charset="-122"/>
                          <a:cs typeface="Calibri" pitchFamily="34" charset="-120"/>
                        </a:rPr>
                        <a:t>CVS Downtown SF</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D1D5DB"/>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b="1" dirty="0">
                          <a:solidFill>
                            <a:srgbClr val="1A1A2E"/>
                          </a:solidFill>
                          <a:latin typeface="Calibri" pitchFamily="34" charset="0"/>
                          <a:ea typeface="Calibri" pitchFamily="34" charset="-122"/>
                          <a:cs typeface="Calibri" pitchFamily="34" charset="-120"/>
                        </a:rPr>
                        <a:t>300 units</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D1D5DB"/>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not needed</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D1D5DB"/>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b="1" dirty="0">
                          <a:solidFill>
                            <a:srgbClr val="059669"/>
                          </a:solidFill>
                          <a:latin typeface="Calibri" pitchFamily="34" charset="0"/>
                          <a:ea typeface="Calibri" pitchFamily="34" charset="-122"/>
                          <a:cs typeface="Calibri" pitchFamily="34" charset="-120"/>
                        </a:rPr>
                        <a:t>DEA-SF-DT-001</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D1D5DB"/>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b="1" dirty="0">
                          <a:solidFill>
                            <a:srgbClr val="059669"/>
                          </a:solidFill>
                          <a:latin typeface="Calibri" pitchFamily="34" charset="0"/>
                          <a:ea typeface="Calibri" pitchFamily="34" charset="-122"/>
                          <a:cs typeface="Calibri" pitchFamily="34" charset="-120"/>
                        </a:rPr>
                        <a:t>150 days</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D1D5DB"/>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b="1" dirty="0">
                          <a:solidFill>
                            <a:srgbClr val="1E40AF"/>
                          </a:solidFill>
                          <a:latin typeface="Calibri" pitchFamily="34" charset="0"/>
                          <a:ea typeface="Calibri" pitchFamily="34" charset="-122"/>
                          <a:cs typeface="Calibri" pitchFamily="34" charset="-120"/>
                        </a:rPr>
                        <a:t>SELECTED</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D1D5DB"/>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extLst>
                  <a:ext uri="{0D108BD9-81ED-4DB2-BD59-A6C34878D82A}">
                    <a16:rowId xmlns:a16="http://schemas.microsoft.com/office/drawing/2014/main" val="10001"/>
                  </a:ext>
                </a:extLst>
              </a:tr>
              <a:tr h="520192">
                <a:tc>
                  <a:txBody>
                    <a:bodyPr/>
                    <a:lstStyle/>
                    <a:p>
                      <a:pPr marL="0" indent="0">
                        <a:buNone/>
                      </a:pPr>
                      <a:r>
                        <a:rPr lang="en-US" sz="1800" b="1" dirty="0">
                          <a:solidFill>
                            <a:srgbClr val="1A1A2E"/>
                          </a:solidFill>
                          <a:latin typeface="Calibri" pitchFamily="34" charset="0"/>
                          <a:ea typeface="Calibri" pitchFamily="34" charset="-122"/>
                          <a:cs typeface="Calibri" pitchFamily="34" charset="-120"/>
                        </a:rPr>
                        <a:t>CVS San Jose Central</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dirty="0">
                          <a:solidFill>
                            <a:srgbClr val="1A1A2E"/>
                          </a:solidFill>
                          <a:latin typeface="Calibri" pitchFamily="34" charset="0"/>
                          <a:ea typeface="Calibri" pitchFamily="34" charset="-122"/>
                          <a:cs typeface="Calibri" pitchFamily="34" charset="-120"/>
                        </a:rPr>
                        <a:t>120 units</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not needed</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b="1" dirty="0">
                          <a:solidFill>
                            <a:srgbClr val="059669"/>
                          </a:solidFill>
                          <a:latin typeface="Calibri" pitchFamily="34" charset="0"/>
                          <a:ea typeface="Calibri" pitchFamily="34" charset="-122"/>
                          <a:cs typeface="Calibri" pitchFamily="34" charset="-120"/>
                        </a:rPr>
                        <a:t>DEA-SJ-CT-004</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b="1" dirty="0">
                          <a:solidFill>
                            <a:srgbClr val="059669"/>
                          </a:solidFill>
                          <a:latin typeface="Calibri" pitchFamily="34" charset="0"/>
                          <a:ea typeface="Calibri" pitchFamily="34" charset="-122"/>
                          <a:cs typeface="Calibri" pitchFamily="34" charset="-120"/>
                        </a:rPr>
                        <a:t>100 days</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never evaluated</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extLst>
                  <a:ext uri="{0D108BD9-81ED-4DB2-BD59-A6C34878D82A}">
                    <a16:rowId xmlns:a16="http://schemas.microsoft.com/office/drawing/2014/main" val="10002"/>
                  </a:ext>
                </a:extLst>
              </a:tr>
              <a:tr h="677333">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CVS Westside SF</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no position</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no Amoxicillin at this store</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no inventory</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extLst>
                  <a:ext uri="{0D108BD9-81ED-4DB2-BD59-A6C34878D82A}">
                    <a16:rowId xmlns:a16="http://schemas.microsoft.com/office/drawing/2014/main" val="10003"/>
                  </a:ext>
                </a:extLst>
              </a:tr>
              <a:tr h="677333">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CVS Eastside Oakland</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no position</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no Amoxicillin at this store</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no inventory</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extLst>
                  <a:ext uri="{0D108BD9-81ED-4DB2-BD59-A6C34878D82A}">
                    <a16:rowId xmlns:a16="http://schemas.microsoft.com/office/drawing/2014/main" val="10004"/>
                  </a:ext>
                </a:extLst>
              </a:tr>
              <a:tr h="948267">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CVS Palo Alto</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no position</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inactive — excluded by SOQL</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i="1" dirty="0">
                          <a:solidFill>
                            <a:srgbClr val="6B7280"/>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tc>
                  <a:txBody>
                    <a:bodyPr/>
                    <a:lstStyle/>
                    <a:p>
                      <a:pPr marL="0" indent="0">
                        <a:buNone/>
                      </a:pPr>
                      <a:r>
                        <a:rPr lang="en-US" sz="1800" b="1" dirty="0">
                          <a:solidFill>
                            <a:srgbClr val="DC2626"/>
                          </a:solidFill>
                          <a:latin typeface="Calibri" pitchFamily="34" charset="0"/>
                          <a:ea typeface="Calibri" pitchFamily="34" charset="-122"/>
                          <a:cs typeface="Calibri" pitchFamily="34" charset="-120"/>
                        </a:rPr>
                        <a:t>inactive</a:t>
                      </a:r>
                      <a:endParaRPr lang="en-US" sz="1800" dirty="0">
                        <a:latin typeface="Calibri" charset="0"/>
                        <a:ea typeface="Calibri" charset="0"/>
                        <a:cs typeface="Calibri" charset="0"/>
                      </a:endParaRPr>
                    </a:p>
                  </a:txBody>
                  <a:tcPr marL="135467" marR="135467" marT="67733" marB="67733">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6350" cap="flat" cmpd="sng" algn="ctr">
                      <a:solidFill>
                        <a:srgbClr val="F3F4F6"/>
                      </a:solidFill>
                      <a:prstDash val="solid"/>
                      <a:round/>
                      <a:headEnd type="none" w="med" len="med"/>
                      <a:tailEnd type="none" w="med" len="med"/>
                    </a:lnT>
                    <a:lnB w="6350" cap="flat" cmpd="sng" algn="ctr">
                      <a:solidFill>
                        <a:srgbClr val="F3F4F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Shape 4"/>
          <p:cNvSpPr/>
          <p:nvPr/>
        </p:nvSpPr>
        <p:spPr>
          <a:xfrm>
            <a:off x="812800" y="6209792"/>
            <a:ext cx="14630400" cy="1381760"/>
          </a:xfrm>
          <a:prstGeom prst="roundRect">
            <a:avLst>
              <a:gd name="adj" fmla="val 9412"/>
            </a:avLst>
          </a:prstGeom>
          <a:solidFill>
            <a:srgbClr val="DBEAFE"/>
          </a:solidFill>
          <a:ln/>
        </p:spPr>
        <p:txBody>
          <a:bodyPr/>
          <a:lstStyle/>
          <a:p>
            <a:endParaRPr lang="en-US" sz="3200"/>
          </a:p>
        </p:txBody>
      </p:sp>
      <p:sp>
        <p:nvSpPr>
          <p:cNvPr id="9" name="Text 5"/>
          <p:cNvSpPr/>
          <p:nvPr/>
        </p:nvSpPr>
        <p:spPr>
          <a:xfrm>
            <a:off x="1137920" y="6291072"/>
            <a:ext cx="13980160" cy="1219200"/>
          </a:xfrm>
          <a:prstGeom prst="rect">
            <a:avLst/>
          </a:prstGeom>
          <a:noFill/>
          <a:ln/>
        </p:spPr>
        <p:txBody>
          <a:bodyPr wrap="square" lIns="0" tIns="0" rIns="0" bIns="0" rtlCol="0" anchor="t"/>
          <a:lstStyle/>
          <a:p>
            <a:pPr>
              <a:lnSpc>
                <a:spcPct val="130000"/>
              </a:lnSpc>
            </a:pPr>
            <a:r>
              <a:rPr lang="en-US" sz="1778" b="1" dirty="0">
                <a:solidFill>
                  <a:srgbClr val="1E40AF"/>
                </a:solidFill>
                <a:latin typeface="Calibri" pitchFamily="34" charset="0"/>
                <a:ea typeface="Calibri" pitchFamily="34" charset="-122"/>
                <a:cs typeface="Calibri" pitchFamily="34" charset="-120"/>
              </a:rPr>
              <a:t>Why CVS Downtown SF wins: </a:t>
            </a:r>
            <a:r>
              <a:rPr lang="en-US" sz="1778" dirty="0">
                <a:solidFill>
                  <a:srgbClr val="1E40AF"/>
                </a:solidFill>
                <a:latin typeface="Calibri" pitchFamily="34" charset="0"/>
                <a:ea typeface="Calibri" pitchFamily="34" charset="-122"/>
                <a:cs typeface="Calibri" pitchFamily="34" charset="-120"/>
              </a:rPr>
              <a:t>Both stores are eligible but SOQL sorts by Quantity DESC. CVS Downtown SF (300 units) is evaluated first, passes all checks, and is selected immediately. CVS San Jose Central (120 units) is never evaluated — the loop exits on the first eligible match. Transfer qty: MIN(260 x 50%, 50) = 50 units.</a:t>
            </a:r>
            <a:endParaRPr lang="en-US" sz="1778"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300480" y="1950720"/>
            <a:ext cx="13655040" cy="1625600"/>
          </a:xfrm>
          <a:prstGeom prst="rect">
            <a:avLst/>
          </a:prstGeom>
          <a:noFill/>
          <a:ln/>
        </p:spPr>
        <p:txBody>
          <a:bodyPr wrap="square" lIns="0" tIns="0" rIns="0" bIns="0" rtlCol="0" anchor="ctr"/>
          <a:lstStyle/>
          <a:p>
            <a:pPr algn="ctr"/>
            <a:r>
              <a:rPr lang="en-US" sz="7111" b="1" dirty="0">
                <a:solidFill>
                  <a:srgbClr val="102848"/>
                </a:solidFill>
                <a:latin typeface="Calibri" pitchFamily="34" charset="0"/>
                <a:ea typeface="Calibri" pitchFamily="34" charset="-122"/>
                <a:cs typeface="Calibri" pitchFamily="34" charset="-120"/>
              </a:rPr>
              <a:t>Thank You!!!</a:t>
            </a:r>
            <a:endParaRPr lang="en-US" sz="711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5886</TotalTime>
  <Words>1207</Words>
  <Application>Microsoft Office PowerPoint</Application>
  <PresentationFormat>Custom</PresentationFormat>
  <Paragraphs>274</Paragraphs>
  <Slides>15</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Jayavardhan Raju</dc:creator>
  <cp:lastModifiedBy>Jayavardhan Raju</cp:lastModifiedBy>
  <cp:revision>8</cp:revision>
  <dcterms:created xsi:type="dcterms:W3CDTF">2006-08-16T00:00:00Z</dcterms:created>
  <dcterms:modified xsi:type="dcterms:W3CDTF">2026-06-22T09:19:06Z</dcterms:modified>
</cp:coreProperties>
</file>